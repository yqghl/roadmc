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5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开场先说项目定位：不是单纯换一个分割网络，而是建立生成、训练、验证的闭环。</a:t>
            </a:r>
          </a:p>
          <a:p>
            <a:r>
              <a:t>强调这份 PPT 不是论文答辩，而是先把技术路线讲清楚。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这一页先让导师接受：直接训 38 类很难，不是因为代码不努力，而是任务本身难。</a:t>
            </a:r>
          </a:p>
          <a:p>
            <a:r>
              <a:t>用这页引出为什么我们要先做生成数据和二分类稳定化。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这一页是整套汇报的中心：左右两块不是先后附属关系，而是同等重要。</a:t>
            </a:r>
          </a:p>
          <a:p>
            <a:r>
              <a:t>导师如果问创新在哪里，可以说在于把可控生成和训练闭环放在一起设计。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这里要讲清楚：点云生成模块是项目的重要部分，不是临时造数据。</a:t>
            </a:r>
          </a:p>
          <a:p>
            <a:r>
              <a:t>如果导师追问，可以展开 ISO 8608、病害原语、LiDAR 重采样三层。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这页要强调为什么不是直接硬训 38 类。</a:t>
            </a:r>
          </a:p>
          <a:p>
            <a:r>
              <a:t>二分类阶段先把前景边界学稳，再迁移到更细粒度类别，这比冷启动更合理。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这页回应代码里 GAN 和 end2end 的存在：它们不是乱放的，而是域适配支线。</a:t>
            </a:r>
          </a:p>
          <a:p>
            <a:r>
              <a:t>同时要诚实说明当前主结论仍来自 baseline，不要把支线说成已成熟成果。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这页要主动讲限制，避免导师追问时显得被动。</a:t>
            </a:r>
          </a:p>
          <a:p>
            <a:r>
              <a:t>重点不是夸分数，而是说分数说明路线有效，正式结论要等扩容后复验。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收尾要落在计划上：先扩容和统一评估，再做多类别迁移，最后接真实域适配。</a:t>
            </a:r>
          </a:p>
          <a:p>
            <a:r>
              <a:t>这页可以作为导师讨论的起点，问对方是否认可这个推进顺序。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41E5AB7-74FA-4048-8F85-783C322523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F7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5F50E7-9D5A-4277-BCA1-83C952D82689}"/>
              </a:ext>
            </a:extLst>
          </p:cNvPr>
          <p:cNvSpPr>
            <a:spLocks noGrp="1"/>
          </p:cNvSpPr>
          <p:nvPr/>
        </p:nvSpPr>
        <p:spPr>
          <a:xfrm>
            <a:off x="590550" y="647700"/>
            <a:ext cx="4191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0" b="1">
                <a:solidFill>
                  <a:srgbClr val="2B2118"/>
                </a:solidFill>
              </a:defRPr>
            </a:pPr>
            <a:r>
              <a:rPr sz="5250" b="1">
                <a:solidFill>
                  <a:srgbClr val="2B2118"/>
                </a:solidFill>
              </a:rPr>
              <a:t>RoadMC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53B53A-6301-477C-B8C4-8923A212838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752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0">
                <a:solidFill>
                  <a:srgbClr val="6F6257"/>
                </a:solidFill>
              </a:defRPr>
            </a:pPr>
            <a:r>
              <a:rPr sz="2175" b="0">
                <a:solidFill>
                  <a:srgbClr val="6F6257"/>
                </a:solidFill>
              </a:rPr>
              <a:t>物理仿真点云生成与路面病害分割训练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C3CEF6-527F-441E-835D-691FDC03EDC3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2000250" cy="11430"/>
          </a:xfrm>
          <a:prstGeom prst="rect">
            <a:avLst/>
          </a:prstGeom>
          <a:solidFill>
            <a:srgbClr val="D8C7B8"/>
          </a:solidFill>
          <a:ln w="0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081F46-9A4A-4EBC-8C49-C008AAB72975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96442"/>
                </a:solidFill>
              </a:defRPr>
            </a:pPr>
            <a:r>
              <a:rPr sz="1350" b="1">
                <a:solidFill>
                  <a:srgbClr val="C96442"/>
                </a:solidFill>
              </a:rPr>
              <a:t>给导师汇报用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428DC1-499C-428E-A426-F2D9B8387378}"/>
              </a:ext>
            </a:extLst>
          </p:cNvPr>
          <p:cNvSpPr>
            <a:spLocks noGrp="1"/>
          </p:cNvSpPr>
          <p:nvPr/>
        </p:nvSpPr>
        <p:spPr>
          <a:xfrm>
            <a:off x="628650" y="4762500"/>
            <a:ext cx="7048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2B2118"/>
                </a:solidFill>
              </a:defRPr>
            </a:pPr>
            <a:r>
              <a:rPr sz="2250" b="0">
                <a:solidFill>
                  <a:srgbClr val="2B2118"/>
                </a:solidFill>
              </a:rPr>
              <a:t>核心不是单个网络，而是一套从可控数据生成到稳定训练的闭环方案。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9119D69-FDA8-4F3E-98C5-79814657EF4B}"/>
              </a:ext>
            </a:extLst>
          </p:cNvPr>
          <p:cNvSpPr>
            <a:spLocks noGrp="1"/>
          </p:cNvSpPr>
          <p:nvPr/>
        </p:nvSpPr>
        <p:spPr>
          <a:xfrm>
            <a:off x="8239125" y="819150"/>
            <a:ext cx="2857500" cy="4095750"/>
          </a:xfrm>
          <a:prstGeom prst="roundRect">
            <a:avLst>
              <a:gd name="adj" fmla="val 2667"/>
            </a:avLst>
          </a:prstGeom>
          <a:solidFill>
            <a:srgbClr val="EFE4D6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BA8F8E-BB80-49A7-A3A8-ECBF91F49652}"/>
              </a:ext>
            </a:extLst>
          </p:cNvPr>
          <p:cNvSpPr>
            <a:spLocks noGrp="1"/>
          </p:cNvSpPr>
          <p:nvPr/>
        </p:nvSpPr>
        <p:spPr>
          <a:xfrm>
            <a:off x="8572500" y="119062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B2118"/>
                </a:solidFill>
              </a:defRPr>
            </a:pPr>
            <a:r>
              <a:rPr sz="1800" b="1">
                <a:solidFill>
                  <a:srgbClr val="2B2118"/>
                </a:solidFill>
              </a:rPr>
              <a:t>汇报主线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DBDD26-9B00-451B-BD09-1693E45D607A}"/>
              </a:ext>
            </a:extLst>
          </p:cNvPr>
          <p:cNvSpPr>
            <a:spLocks noGrp="1"/>
          </p:cNvSpPr>
          <p:nvPr/>
        </p:nvSpPr>
        <p:spPr>
          <a:xfrm>
            <a:off x="8572500" y="1781175"/>
            <a:ext cx="228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95C183-6C6E-4582-87CF-8C53B7DAED1E}"/>
              </a:ext>
            </a:extLst>
          </p:cNvPr>
          <p:cNvSpPr>
            <a:spLocks noGrp="1"/>
          </p:cNvSpPr>
          <p:nvPr/>
        </p:nvSpPr>
        <p:spPr>
          <a:xfrm>
            <a:off x="8839200" y="17716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B2118"/>
                </a:solidFill>
              </a:defRPr>
            </a:pPr>
            <a:r>
              <a:rPr sz="1425" b="0">
                <a:solidFill>
                  <a:srgbClr val="2B2118"/>
                </a:solidFill>
              </a:rPr>
              <a:t>为什么要生成点云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08882C-2E33-492B-A83B-F6FA598FE7F3}"/>
              </a:ext>
            </a:extLst>
          </p:cNvPr>
          <p:cNvSpPr>
            <a:spLocks noGrp="1"/>
          </p:cNvSpPr>
          <p:nvPr/>
        </p:nvSpPr>
        <p:spPr>
          <a:xfrm>
            <a:off x="8572500" y="2352675"/>
            <a:ext cx="228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9DEF7F-C609-4D6A-996F-B247104FC440}"/>
              </a:ext>
            </a:extLst>
          </p:cNvPr>
          <p:cNvSpPr>
            <a:spLocks noGrp="1"/>
          </p:cNvSpPr>
          <p:nvPr/>
        </p:nvSpPr>
        <p:spPr>
          <a:xfrm>
            <a:off x="8839200" y="23431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B2118"/>
                </a:solidFill>
              </a:defRPr>
            </a:pPr>
            <a:r>
              <a:rPr sz="1425" b="0">
                <a:solidFill>
                  <a:srgbClr val="2B2118"/>
                </a:solidFill>
              </a:rPr>
              <a:t>点云如何生成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7196D7-4BCE-449C-B3C6-5A3810777F85}"/>
              </a:ext>
            </a:extLst>
          </p:cNvPr>
          <p:cNvSpPr>
            <a:spLocks noGrp="1"/>
          </p:cNvSpPr>
          <p:nvPr/>
        </p:nvSpPr>
        <p:spPr>
          <a:xfrm>
            <a:off x="8572500" y="2924175"/>
            <a:ext cx="228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4A1106-F0AF-4C26-B20D-096BA7EF129A}"/>
              </a:ext>
            </a:extLst>
          </p:cNvPr>
          <p:cNvSpPr>
            <a:spLocks noGrp="1"/>
          </p:cNvSpPr>
          <p:nvPr/>
        </p:nvSpPr>
        <p:spPr>
          <a:xfrm>
            <a:off x="8839200" y="29146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B2118"/>
                </a:solidFill>
              </a:defRPr>
            </a:pPr>
            <a:r>
              <a:rPr sz="1425" b="0">
                <a:solidFill>
                  <a:srgbClr val="2B2118"/>
                </a:solidFill>
              </a:rPr>
              <a:t>模型如何训练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FF0433-A8B7-4E61-9D33-04ADEBB23558}"/>
              </a:ext>
            </a:extLst>
          </p:cNvPr>
          <p:cNvSpPr>
            <a:spLocks noGrp="1"/>
          </p:cNvSpPr>
          <p:nvPr/>
        </p:nvSpPr>
        <p:spPr>
          <a:xfrm>
            <a:off x="8572500" y="3495675"/>
            <a:ext cx="228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D12CCD-5892-426F-9A0C-E74DF52D764D}"/>
              </a:ext>
            </a:extLst>
          </p:cNvPr>
          <p:cNvSpPr>
            <a:spLocks noGrp="1"/>
          </p:cNvSpPr>
          <p:nvPr/>
        </p:nvSpPr>
        <p:spPr>
          <a:xfrm>
            <a:off x="8839200" y="348615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B2118"/>
                </a:solidFill>
              </a:defRPr>
            </a:pPr>
            <a:r>
              <a:rPr sz="1425" b="0">
                <a:solidFill>
                  <a:srgbClr val="2B2118"/>
                </a:solidFill>
              </a:rPr>
              <a:t>当前结果与下一步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2D43BF-E3D2-49DE-ABF5-043563FEF8F5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2026-07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DD889F-94D3-4F96-94D6-D809D506E8A5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098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A84E39B-83F0-4410-9AA0-48DA1C9AB4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F7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16702E-D4A4-4E93-A2F1-B2AE13FFAD83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问题背景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5C86C-9EB4-43FB-BD55-092DC5F12322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2B2118"/>
                </a:solidFill>
              </a:defRPr>
            </a:pPr>
            <a:r>
              <a:rPr sz="3000" b="1">
                <a:solidFill>
                  <a:srgbClr val="2B2118"/>
                </a:solidFill>
              </a:rPr>
              <a:t>直接训练路面病害点云模型，很容易卡在数据和长尾上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FDA9D3-394C-4A47-8F5E-8B6E8E6C71AB}"/>
              </a:ext>
            </a:extLst>
          </p:cNvPr>
          <p:cNvSpPr>
            <a:spLocks noGrp="1"/>
          </p:cNvSpPr>
          <p:nvPr/>
        </p:nvSpPr>
        <p:spPr>
          <a:xfrm>
            <a:off x="482974" y="17526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F6257"/>
                </a:solidFill>
              </a:defRPr>
            </a:pPr>
            <a:r>
              <a:rPr sz="1650" b="0" dirty="0" err="1">
                <a:solidFill>
                  <a:srgbClr val="6F6257"/>
                </a:solidFill>
              </a:rPr>
              <a:t>真实点云不是不能用，而是很难在早期形成稳定的大规模监督</a:t>
            </a:r>
            <a:r>
              <a:rPr sz="1650" b="0" dirty="0">
                <a:solidFill>
                  <a:srgbClr val="6F6257"/>
                </a:solidFill>
              </a:rPr>
              <a:t>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97B0A42-7667-4605-820A-591D46890796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4762500" cy="1181100"/>
          </a:xfrm>
          <a:prstGeom prst="roundRect">
            <a:avLst>
              <a:gd name="adj" fmla="val 6452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432B73-08E3-42AB-8714-614FBC862BB6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B2118"/>
                </a:solidFill>
              </a:defRPr>
            </a:pPr>
            <a:r>
              <a:rPr sz="1725" b="1">
                <a:solidFill>
                  <a:srgbClr val="2B2118"/>
                </a:solidFill>
              </a:rPr>
              <a:t>标注贵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DFF798-E45A-4E0B-8F07-83E0E7159978}"/>
              </a:ext>
            </a:extLst>
          </p:cNvPr>
          <p:cNvSpPr>
            <a:spLocks noGrp="1"/>
          </p:cNvSpPr>
          <p:nvPr/>
        </p:nvSpPr>
        <p:spPr>
          <a:xfrm>
            <a:off x="838200" y="2838450"/>
            <a:ext cx="430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257"/>
                </a:solidFill>
              </a:defRPr>
            </a:pPr>
            <a:r>
              <a:rPr sz="1350" b="0">
                <a:solidFill>
                  <a:srgbClr val="6F6257"/>
                </a:solidFill>
              </a:rPr>
              <a:t>点级标签需要逐点确认，真实病害边界尤其难标。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ABB1A33-147C-41FA-865C-92E1E2F2AA5A}"/>
              </a:ext>
            </a:extLst>
          </p:cNvPr>
          <p:cNvSpPr>
            <a:spLocks noGrp="1"/>
          </p:cNvSpPr>
          <p:nvPr/>
        </p:nvSpPr>
        <p:spPr>
          <a:xfrm>
            <a:off x="5943600" y="2190750"/>
            <a:ext cx="4762500" cy="1181100"/>
          </a:xfrm>
          <a:prstGeom prst="roundRect">
            <a:avLst>
              <a:gd name="adj" fmla="val 6452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DE9370-30FC-402F-A18A-2020C4AC4D40}"/>
              </a:ext>
            </a:extLst>
          </p:cNvPr>
          <p:cNvSpPr>
            <a:spLocks noGrp="1"/>
          </p:cNvSpPr>
          <p:nvPr/>
        </p:nvSpPr>
        <p:spPr>
          <a:xfrm>
            <a:off x="5943600" y="2190750"/>
            <a:ext cx="57150" cy="1181100"/>
          </a:xfrm>
          <a:prstGeom prst="rect">
            <a:avLst/>
          </a:prstGeom>
          <a:solidFill>
            <a:srgbClr val="C96442"/>
          </a:solidFill>
          <a:ln w="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4C780F-EA7E-4D59-B5F7-945D6FF2A213}"/>
              </a:ext>
            </a:extLst>
          </p:cNvPr>
          <p:cNvSpPr>
            <a:spLocks noGrp="1"/>
          </p:cNvSpPr>
          <p:nvPr/>
        </p:nvSpPr>
        <p:spPr>
          <a:xfrm>
            <a:off x="6172200" y="240030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B2118"/>
                </a:solidFill>
              </a:defRPr>
            </a:pPr>
            <a:r>
              <a:rPr sz="1725" b="1">
                <a:solidFill>
                  <a:srgbClr val="2B2118"/>
                </a:solidFill>
              </a:rPr>
              <a:t>类别长尾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28455E-EF6B-4494-9B01-ED62DFF4AFA0}"/>
              </a:ext>
            </a:extLst>
          </p:cNvPr>
          <p:cNvSpPr>
            <a:spLocks noGrp="1"/>
          </p:cNvSpPr>
          <p:nvPr/>
        </p:nvSpPr>
        <p:spPr>
          <a:xfrm>
            <a:off x="6172200" y="2838450"/>
            <a:ext cx="430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257"/>
                </a:solidFill>
              </a:defRPr>
            </a:pPr>
            <a:r>
              <a:rPr sz="1350" b="0">
                <a:solidFill>
                  <a:srgbClr val="6F6257"/>
                </a:solidFill>
              </a:rPr>
              <a:t>38 类病害分布极不均衡，冷启动容易塌到背景。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A2E7F60-45B8-4B0F-99C5-008F9A3ED940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4762500" cy="1181100"/>
          </a:xfrm>
          <a:prstGeom prst="roundRect">
            <a:avLst>
              <a:gd name="adj" fmla="val 6452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F64299-B8A3-418A-A15C-66ECC7DC31E7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7150" cy="1181100"/>
          </a:xfrm>
          <a:prstGeom prst="rect">
            <a:avLst/>
          </a:prstGeom>
          <a:solidFill>
            <a:srgbClr val="C96442"/>
          </a:solidFill>
          <a:ln w="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DED0A29-B5C5-4DD1-9D38-E469D35066BB}"/>
              </a:ext>
            </a:extLst>
          </p:cNvPr>
          <p:cNvSpPr>
            <a:spLocks noGrp="1"/>
          </p:cNvSpPr>
          <p:nvPr/>
        </p:nvSpPr>
        <p:spPr>
          <a:xfrm>
            <a:off x="838200" y="40195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B2118"/>
                </a:solidFill>
              </a:defRPr>
            </a:pPr>
            <a:r>
              <a:rPr sz="1725" b="1">
                <a:solidFill>
                  <a:srgbClr val="2B2118"/>
                </a:solidFill>
              </a:rPr>
              <a:t>目标细薄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4B4810-829E-47C3-909F-49D72C377903}"/>
              </a:ext>
            </a:extLst>
          </p:cNvPr>
          <p:cNvSpPr>
            <a:spLocks noGrp="1"/>
          </p:cNvSpPr>
          <p:nvPr/>
        </p:nvSpPr>
        <p:spPr>
          <a:xfrm>
            <a:off x="838200" y="4457700"/>
            <a:ext cx="430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257"/>
                </a:solidFill>
              </a:defRPr>
            </a:pPr>
            <a:r>
              <a:rPr sz="1350" b="0">
                <a:solidFill>
                  <a:srgbClr val="6F6257"/>
                </a:solidFill>
              </a:rPr>
              <a:t>裂缝、剥落等目标占比低，边界模糊且稀疏。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B1F936-4285-4FB2-85A8-A79F72A20129}"/>
              </a:ext>
            </a:extLst>
          </p:cNvPr>
          <p:cNvSpPr>
            <a:spLocks noGrp="1"/>
          </p:cNvSpPr>
          <p:nvPr/>
        </p:nvSpPr>
        <p:spPr>
          <a:xfrm>
            <a:off x="5943600" y="3810000"/>
            <a:ext cx="4762500" cy="1181100"/>
          </a:xfrm>
          <a:prstGeom prst="roundRect">
            <a:avLst>
              <a:gd name="adj" fmla="val 6452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2B09BD-C4F5-4AC0-96CE-B5A0BE00C787}"/>
              </a:ext>
            </a:extLst>
          </p:cNvPr>
          <p:cNvSpPr>
            <a:spLocks noGrp="1"/>
          </p:cNvSpPr>
          <p:nvPr/>
        </p:nvSpPr>
        <p:spPr>
          <a:xfrm>
            <a:off x="6172200" y="40195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B2118"/>
                </a:solidFill>
              </a:defRPr>
            </a:pPr>
            <a:r>
              <a:rPr sz="1725" b="1">
                <a:solidFill>
                  <a:srgbClr val="2B2118"/>
                </a:solidFill>
              </a:rPr>
              <a:t>采集差异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0E5EA5-7420-43E3-B859-177EB2876125}"/>
              </a:ext>
            </a:extLst>
          </p:cNvPr>
          <p:cNvSpPr>
            <a:spLocks noGrp="1"/>
          </p:cNvSpPr>
          <p:nvPr/>
        </p:nvSpPr>
        <p:spPr>
          <a:xfrm>
            <a:off x="6172200" y="4457700"/>
            <a:ext cx="430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F6257"/>
                </a:solidFill>
              </a:defRPr>
            </a:pPr>
            <a:r>
              <a:rPr sz="1350" b="0">
                <a:solidFill>
                  <a:srgbClr val="6F6257"/>
                </a:solidFill>
              </a:rPr>
              <a:t>点密度、噪声、扫描角度会改变输入分布。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1D6270-B9C4-471C-9B99-32B149A57BF2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C96442"/>
                </a:solidFill>
              </a:defRPr>
            </a:pPr>
            <a:r>
              <a:rPr sz="1200" b="1">
                <a:solidFill>
                  <a:srgbClr val="C96442"/>
                </a:solidFill>
              </a:rPr>
              <a:t>判断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1577ADA-C0DC-4FD3-A813-DCBA8F0C748C}"/>
              </a:ext>
            </a:extLst>
          </p:cNvPr>
          <p:cNvSpPr>
            <a:spLocks noGrp="1"/>
          </p:cNvSpPr>
          <p:nvPr/>
        </p:nvSpPr>
        <p:spPr>
          <a:xfrm>
            <a:off x="1219200" y="57340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B2118"/>
                </a:solidFill>
              </a:defRPr>
            </a:pPr>
            <a:r>
              <a:rPr sz="1650" b="0">
                <a:solidFill>
                  <a:srgbClr val="2B2118"/>
                </a:solidFill>
              </a:rPr>
              <a:t>当前问题不只是模型结构，而是数据、训练路线和评估口径一起影响结果。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AD492C-C44C-49C1-A6C2-2B413C2B4A70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2209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5076404-F855-4DA7-BA96-0FAC8E529100}"/>
              </a:ext>
            </a:extLst>
          </p:cNvPr>
          <p:cNvSpPr>
            <a:spLocks noGrp="1"/>
          </p:cNvSpPr>
          <p:nvPr/>
        </p:nvSpPr>
        <p:spPr>
          <a:xfrm>
            <a:off x="-9525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F7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862B87-6611-4EFD-B43E-4DA5B0521F08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总体方案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CCA10B-0290-40B2-B134-BBE7DDC723BD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先把监督数据做可控，再把模型训练做稳定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921CB11-3AE5-4069-BA4B-B8EB1D2C8182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624356" cy="2000250"/>
          </a:xfrm>
          <a:prstGeom prst="roundRect">
            <a:avLst>
              <a:gd name="adj" fmla="val 3810"/>
            </a:avLst>
          </a:prstGeom>
          <a:solidFill>
            <a:srgbClr val="EFE4D6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8F3504-CD87-4FF4-B53B-1BF38C4115F9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57150" cy="2000250"/>
          </a:xfrm>
          <a:prstGeom prst="rect">
            <a:avLst/>
          </a:prstGeom>
          <a:solidFill>
            <a:srgbClr val="C96442"/>
          </a:solidFill>
          <a:ln w="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07000C-F817-4279-A550-4395D02EA606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B2118"/>
                </a:solidFill>
              </a:defRPr>
            </a:pPr>
            <a:r>
              <a:rPr sz="2100" b="1">
                <a:solidFill>
                  <a:srgbClr val="2B2118"/>
                </a:solidFill>
              </a:rPr>
              <a:t>点云生成模块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45BFB0-47E6-4907-8B4F-875944F915CE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3224306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F6257"/>
                </a:solidFill>
              </a:defRPr>
            </a:pPr>
            <a:r>
              <a:rPr sz="1575" b="0" dirty="0" err="1">
                <a:solidFill>
                  <a:srgbClr val="6F6257"/>
                </a:solidFill>
              </a:rPr>
              <a:t>用路面粗糙度、微纹理、病害原语和</a:t>
            </a:r>
            <a:r>
              <a:rPr sz="1575" b="0" dirty="0">
                <a:solidFill>
                  <a:srgbClr val="6F6257"/>
                </a:solidFill>
              </a:rPr>
              <a:t> LiDAR </a:t>
            </a:r>
            <a:r>
              <a:rPr sz="1575" b="0" dirty="0" err="1">
                <a:solidFill>
                  <a:srgbClr val="6F6257"/>
                </a:solidFill>
              </a:rPr>
              <a:t>观测模型，生成带标签点云</a:t>
            </a:r>
            <a:r>
              <a:rPr sz="1575" b="0" dirty="0">
                <a:solidFill>
                  <a:srgbClr val="6F6257"/>
                </a:solidFill>
              </a:rPr>
              <a:t>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DFEAD4-BF96-47C7-A19B-B8E22DB3600B}"/>
              </a:ext>
            </a:extLst>
          </p:cNvPr>
          <p:cNvSpPr>
            <a:spLocks noGrp="1"/>
          </p:cNvSpPr>
          <p:nvPr/>
        </p:nvSpPr>
        <p:spPr>
          <a:xfrm>
            <a:off x="8134350" y="2190750"/>
            <a:ext cx="3390900" cy="2000250"/>
          </a:xfrm>
          <a:prstGeom prst="roundRect">
            <a:avLst>
              <a:gd name="adj" fmla="val 3810"/>
            </a:avLst>
          </a:prstGeom>
          <a:solidFill>
            <a:srgbClr val="EFE4D6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7D4D20-D655-4CD8-976E-9A99A9C76C53}"/>
              </a:ext>
            </a:extLst>
          </p:cNvPr>
          <p:cNvSpPr>
            <a:spLocks noGrp="1"/>
          </p:cNvSpPr>
          <p:nvPr/>
        </p:nvSpPr>
        <p:spPr>
          <a:xfrm>
            <a:off x="8077200" y="2190750"/>
            <a:ext cx="57150" cy="2000250"/>
          </a:xfrm>
          <a:prstGeom prst="rect">
            <a:avLst/>
          </a:prstGeom>
          <a:solidFill>
            <a:srgbClr val="C96442"/>
          </a:solidFill>
          <a:ln w="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84572A-9B63-482B-B21C-8CC8F8308930}"/>
              </a:ext>
            </a:extLst>
          </p:cNvPr>
          <p:cNvSpPr>
            <a:spLocks noGrp="1"/>
          </p:cNvSpPr>
          <p:nvPr/>
        </p:nvSpPr>
        <p:spPr>
          <a:xfrm>
            <a:off x="8377144" y="2400300"/>
            <a:ext cx="291950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B2118"/>
                </a:solidFill>
              </a:defRPr>
            </a:pPr>
            <a:r>
              <a:rPr sz="2100" b="1" dirty="0" err="1">
                <a:solidFill>
                  <a:srgbClr val="2B2118"/>
                </a:solidFill>
              </a:rPr>
              <a:t>模型训练模块</a:t>
            </a:r>
            <a:endParaRPr sz="2100" b="1" dirty="0">
              <a:solidFill>
                <a:srgbClr val="2B2118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430A21-27D5-4D13-A6A7-2E88A8D389EE}"/>
              </a:ext>
            </a:extLst>
          </p:cNvPr>
          <p:cNvSpPr>
            <a:spLocks noGrp="1"/>
          </p:cNvSpPr>
          <p:nvPr/>
        </p:nvSpPr>
        <p:spPr>
          <a:xfrm>
            <a:off x="8377144" y="2838450"/>
            <a:ext cx="2919506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6F6257"/>
                </a:solidFill>
              </a:defRPr>
            </a:pPr>
            <a:r>
              <a:rPr sz="1575" b="0" dirty="0">
                <a:solidFill>
                  <a:srgbClr val="6F6257"/>
                </a:solidFill>
              </a:rPr>
              <a:t>用 Swin3D / </a:t>
            </a:r>
            <a:r>
              <a:rPr sz="1575" b="0" dirty="0" err="1">
                <a:solidFill>
                  <a:srgbClr val="6F6257"/>
                </a:solidFill>
              </a:rPr>
              <a:t>PointMamba</a:t>
            </a:r>
            <a:r>
              <a:rPr sz="1575" b="0" dirty="0">
                <a:solidFill>
                  <a:srgbClr val="6F6257"/>
                </a:solidFill>
              </a:rPr>
              <a:t> + </a:t>
            </a:r>
            <a:r>
              <a:rPr sz="1575" b="0" dirty="0" err="1">
                <a:solidFill>
                  <a:srgbClr val="6F6257"/>
                </a:solidFill>
              </a:rPr>
              <a:t>mHC</a:t>
            </a:r>
            <a:r>
              <a:rPr sz="1575" b="0" dirty="0">
                <a:solidFill>
                  <a:srgbClr val="6F6257"/>
                </a:solidFill>
              </a:rPr>
              <a:t> </a:t>
            </a:r>
            <a:r>
              <a:rPr sz="1575" b="0" dirty="0" err="1">
                <a:solidFill>
                  <a:srgbClr val="6F6257"/>
                </a:solidFill>
              </a:rPr>
              <a:t>训练分割模型，先二分类稳定，再迁移到多类别</a:t>
            </a:r>
            <a:r>
              <a:rPr sz="1575" b="0" dirty="0">
                <a:solidFill>
                  <a:srgbClr val="6F6257"/>
                </a:solidFill>
              </a:rPr>
              <a:t>。</a:t>
            </a:r>
          </a:p>
        </p:txBody>
      </p:sp>
      <p:cxnSp>
        <p:nvCxnSpPr>
          <p:cNvPr id="30" name="直接箭头连接符 29"/>
          <p:cNvCxnSpPr>
            <a:cxnSpLocks/>
            <a:stCxn id="4" idx="3"/>
            <a:endCxn id="9" idx="1"/>
          </p:cNvCxnSpPr>
          <p:nvPr/>
        </p:nvCxnSpPr>
        <p:spPr>
          <a:xfrm>
            <a:off x="4291106" y="3190875"/>
            <a:ext cx="3786094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6AE17E03-C28A-422F-9004-9DB0435E7A27}"/>
              </a:ext>
            </a:extLst>
          </p:cNvPr>
          <p:cNvSpPr>
            <a:spLocks noGrp="1"/>
          </p:cNvSpPr>
          <p:nvPr/>
        </p:nvSpPr>
        <p:spPr>
          <a:xfrm>
            <a:off x="5657850" y="2705100"/>
            <a:ext cx="895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C96442"/>
                </a:solidFill>
              </a:defRPr>
            </a:pPr>
            <a:r>
              <a:rPr sz="1875" b="1">
                <a:solidFill>
                  <a:srgbClr val="C96442"/>
                </a:solidFill>
              </a:rPr>
              <a:t>闭环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46D435-08C7-4905-A499-C34620E05701}"/>
              </a:ext>
            </a:extLst>
          </p:cNvPr>
          <p:cNvSpPr>
            <a:spLocks noGrp="1"/>
          </p:cNvSpPr>
          <p:nvPr/>
        </p:nvSpPr>
        <p:spPr>
          <a:xfrm>
            <a:off x="4610660" y="3184712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6F6257"/>
                </a:solidFill>
              </a:defRPr>
            </a:pPr>
            <a:r>
              <a:rPr sz="1350" b="0" dirty="0" err="1">
                <a:solidFill>
                  <a:srgbClr val="6F6257"/>
                </a:solidFill>
              </a:rPr>
              <a:t>生成</a:t>
            </a:r>
            <a:r>
              <a:rPr sz="1350" b="0" dirty="0">
                <a:solidFill>
                  <a:srgbClr val="6F6257"/>
                </a:solidFill>
              </a:rPr>
              <a:t> -&gt; </a:t>
            </a:r>
            <a:r>
              <a:rPr sz="1350" b="0" dirty="0" err="1">
                <a:solidFill>
                  <a:srgbClr val="6F6257"/>
                </a:solidFill>
              </a:rPr>
              <a:t>训练</a:t>
            </a:r>
            <a:r>
              <a:rPr sz="1350" b="0" dirty="0">
                <a:solidFill>
                  <a:srgbClr val="6F6257"/>
                </a:solidFill>
              </a:rPr>
              <a:t> -&gt; </a:t>
            </a:r>
            <a:r>
              <a:rPr sz="1350" b="0" dirty="0" err="1">
                <a:solidFill>
                  <a:srgbClr val="6F6257"/>
                </a:solidFill>
              </a:rPr>
              <a:t>评估</a:t>
            </a:r>
            <a:r>
              <a:rPr sz="1350" b="0" dirty="0">
                <a:solidFill>
                  <a:srgbClr val="6F6257"/>
                </a:solidFill>
              </a:rPr>
              <a:t> -&gt; </a:t>
            </a:r>
            <a:r>
              <a:rPr sz="1350" b="0" dirty="0" err="1">
                <a:solidFill>
                  <a:srgbClr val="6F6257"/>
                </a:solidFill>
              </a:rPr>
              <a:t>校准</a:t>
            </a:r>
            <a:r>
              <a:rPr sz="1350" b="0" dirty="0">
                <a:solidFill>
                  <a:srgbClr val="6F6257"/>
                </a:solidFill>
              </a:rPr>
              <a:t> -&gt; </a:t>
            </a:r>
            <a:r>
              <a:rPr sz="1350" b="0" dirty="0" err="1">
                <a:solidFill>
                  <a:srgbClr val="6F6257"/>
                </a:solidFill>
              </a:rPr>
              <a:t>再生成</a:t>
            </a:r>
            <a:endParaRPr sz="1350" b="0" dirty="0">
              <a:solidFill>
                <a:srgbClr val="6F6257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8EA6B3B-ED9F-4B9E-9107-180B3DA2C07B}"/>
              </a:ext>
            </a:extLst>
          </p:cNvPr>
          <p:cNvSpPr>
            <a:spLocks noGrp="1"/>
          </p:cNvSpPr>
          <p:nvPr/>
        </p:nvSpPr>
        <p:spPr>
          <a:xfrm>
            <a:off x="1276350" y="4810125"/>
            <a:ext cx="9620250" cy="819150"/>
          </a:xfrm>
          <a:prstGeom prst="roundRect">
            <a:avLst>
              <a:gd name="adj" fmla="val 9302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626EF6-E367-4D51-998A-03A9C40EE57E}"/>
              </a:ext>
            </a:extLst>
          </p:cNvPr>
          <p:cNvSpPr>
            <a:spLocks noGrp="1"/>
          </p:cNvSpPr>
          <p:nvPr/>
        </p:nvSpPr>
        <p:spPr>
          <a:xfrm>
            <a:off x="1619250" y="50292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C96442"/>
                </a:solidFill>
              </a:defRPr>
            </a:pPr>
            <a:r>
              <a:rPr sz="1425" b="1">
                <a:solidFill>
                  <a:srgbClr val="C96442"/>
                </a:solidFill>
              </a:rPr>
              <a:t>关键区别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AE08BF-425D-42FA-91DD-BF873C9EA592}"/>
              </a:ext>
            </a:extLst>
          </p:cNvPr>
          <p:cNvSpPr>
            <a:spLocks noGrp="1"/>
          </p:cNvSpPr>
          <p:nvPr/>
        </p:nvSpPr>
        <p:spPr>
          <a:xfrm>
            <a:off x="2857500" y="50101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2B2118"/>
                </a:solidFill>
              </a:defRPr>
            </a:pPr>
            <a:r>
              <a:rPr sz="1725" b="0">
                <a:solidFill>
                  <a:srgbClr val="2B2118"/>
                </a:solidFill>
              </a:rPr>
              <a:t>点云生成不是前处理脚本，它决定几何形态、类别覆盖和监督上限。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C86635-0D77-4320-85C1-A24BE07F9D12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184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6734A432-B1C3-4872-8AFC-2E1D820CA5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F7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CB1902-1AD2-4B10-A1F4-04A7ECF7C8A2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点云生成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D3EA4A-3DA9-4794-A367-2ED4BAA0F6B5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合成点云来自一条物理和几何流水线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17F4E7-B06B-405F-BAD1-5BA2A04E68DE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904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F6257"/>
                </a:solidFill>
              </a:defRPr>
            </a:pPr>
            <a:r>
              <a:rPr sz="1650" b="0">
                <a:solidFill>
                  <a:srgbClr val="6F6257"/>
                </a:solidFill>
              </a:rPr>
              <a:t>不是随机造点，而是按“路面形貌 + 病害形变 + LiDAR 观测”生成监督样本。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299355-3E52-44AC-A5A8-1323A095C783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524000" cy="16002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DF89FB-B1FB-4321-B5FF-B6EDC9EF152F}"/>
              </a:ext>
            </a:extLst>
          </p:cNvPr>
          <p:cNvSpPr>
            <a:spLocks noGrp="1"/>
          </p:cNvSpPr>
          <p:nvPr/>
        </p:nvSpPr>
        <p:spPr>
          <a:xfrm>
            <a:off x="704850" y="2419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6740F9-0C45-4DB4-90CE-6DB5D5B79A3D}"/>
              </a:ext>
            </a:extLst>
          </p:cNvPr>
          <p:cNvSpPr>
            <a:spLocks noGrp="1"/>
          </p:cNvSpPr>
          <p:nvPr/>
        </p:nvSpPr>
        <p:spPr>
          <a:xfrm>
            <a:off x="704850" y="27051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路面类型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6C7E04-CE6B-483E-9602-7662D0A3665C}"/>
              </a:ext>
            </a:extLst>
          </p:cNvPr>
          <p:cNvSpPr>
            <a:spLocks noGrp="1"/>
          </p:cNvSpPr>
          <p:nvPr/>
        </p:nvSpPr>
        <p:spPr>
          <a:xfrm>
            <a:off x="704850" y="3067050"/>
            <a:ext cx="1219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沥青 / 水泥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236F901-44CB-4D14-9AE7-10D220479189}"/>
              </a:ext>
            </a:extLst>
          </p:cNvPr>
          <p:cNvSpPr>
            <a:spLocks noGrp="1"/>
          </p:cNvSpPr>
          <p:nvPr/>
        </p:nvSpPr>
        <p:spPr>
          <a:xfrm>
            <a:off x="2438400" y="2266950"/>
            <a:ext cx="1524000" cy="1600200"/>
          </a:xfrm>
          <a:prstGeom prst="roundRect">
            <a:avLst>
              <a:gd name="adj" fmla="val 5000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AF0E27-0D6E-49FD-9DA9-91E315F5404D}"/>
              </a:ext>
            </a:extLst>
          </p:cNvPr>
          <p:cNvSpPr>
            <a:spLocks noGrp="1"/>
          </p:cNvSpPr>
          <p:nvPr/>
        </p:nvSpPr>
        <p:spPr>
          <a:xfrm>
            <a:off x="2590800" y="2419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E07A0E-5629-491C-B8FC-7BBA09B9B89A}"/>
              </a:ext>
            </a:extLst>
          </p:cNvPr>
          <p:cNvSpPr>
            <a:spLocks noGrp="1"/>
          </p:cNvSpPr>
          <p:nvPr/>
        </p:nvSpPr>
        <p:spPr>
          <a:xfrm>
            <a:off x="2590800" y="27051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ISO 8608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BF3024-D378-4A9F-B1AF-36BD4035751F}"/>
              </a:ext>
            </a:extLst>
          </p:cNvPr>
          <p:cNvSpPr>
            <a:spLocks noGrp="1"/>
          </p:cNvSpPr>
          <p:nvPr/>
        </p:nvSpPr>
        <p:spPr>
          <a:xfrm>
            <a:off x="2590800" y="3067050"/>
            <a:ext cx="1219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宏观粗糙度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7184E6D-AD44-419D-8306-FDCDA92D9F08}"/>
              </a:ext>
            </a:extLst>
          </p:cNvPr>
          <p:cNvSpPr>
            <a:spLocks noGrp="1"/>
          </p:cNvSpPr>
          <p:nvPr/>
        </p:nvSpPr>
        <p:spPr>
          <a:xfrm>
            <a:off x="4324350" y="2266950"/>
            <a:ext cx="1524000" cy="16002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59E7E3-CE8F-445D-ACA0-2C238962183D}"/>
              </a:ext>
            </a:extLst>
          </p:cNvPr>
          <p:cNvSpPr>
            <a:spLocks noGrp="1"/>
          </p:cNvSpPr>
          <p:nvPr/>
        </p:nvSpPr>
        <p:spPr>
          <a:xfrm>
            <a:off x="4476750" y="2419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AE4CFB-C400-4F27-B1A6-57C6CAEE0BF5}"/>
              </a:ext>
            </a:extLst>
          </p:cNvPr>
          <p:cNvSpPr>
            <a:spLocks noGrp="1"/>
          </p:cNvSpPr>
          <p:nvPr/>
        </p:nvSpPr>
        <p:spPr>
          <a:xfrm>
            <a:off x="4476750" y="27051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微纹理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CC0C44-CB5F-46CF-995F-5887C5DB8A15}"/>
              </a:ext>
            </a:extLst>
          </p:cNvPr>
          <p:cNvSpPr>
            <a:spLocks noGrp="1"/>
          </p:cNvSpPr>
          <p:nvPr/>
        </p:nvSpPr>
        <p:spPr>
          <a:xfrm>
            <a:off x="4476750" y="3067050"/>
            <a:ext cx="1219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fBm 细节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BA2FF3A-947F-4BB8-A4D3-886A5284DC2D}"/>
              </a:ext>
            </a:extLst>
          </p:cNvPr>
          <p:cNvSpPr>
            <a:spLocks noGrp="1"/>
          </p:cNvSpPr>
          <p:nvPr/>
        </p:nvSpPr>
        <p:spPr>
          <a:xfrm>
            <a:off x="6210300" y="2266950"/>
            <a:ext cx="1524000" cy="1600200"/>
          </a:xfrm>
          <a:prstGeom prst="roundRect">
            <a:avLst>
              <a:gd name="adj" fmla="val 5000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804AB6-0A7E-4CDB-ADF4-6E76551E5A3A}"/>
              </a:ext>
            </a:extLst>
          </p:cNvPr>
          <p:cNvSpPr>
            <a:spLocks noGrp="1"/>
          </p:cNvSpPr>
          <p:nvPr/>
        </p:nvSpPr>
        <p:spPr>
          <a:xfrm>
            <a:off x="6362700" y="2419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BB0878-D1B0-4D1A-9F56-15070A6924BB}"/>
              </a:ext>
            </a:extLst>
          </p:cNvPr>
          <p:cNvSpPr>
            <a:spLocks noGrp="1"/>
          </p:cNvSpPr>
          <p:nvPr/>
        </p:nvSpPr>
        <p:spPr>
          <a:xfrm>
            <a:off x="6362700" y="27051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病害原语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FB90B0-CC65-4E3A-AEF8-EAEAC293C930}"/>
              </a:ext>
            </a:extLst>
          </p:cNvPr>
          <p:cNvSpPr>
            <a:spLocks noGrp="1"/>
          </p:cNvSpPr>
          <p:nvPr/>
        </p:nvSpPr>
        <p:spPr>
          <a:xfrm>
            <a:off x="6362700" y="3067050"/>
            <a:ext cx="1219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裂缝、坑槽等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64E3E84-35F1-49C0-A82E-D58BBF8758BD}"/>
              </a:ext>
            </a:extLst>
          </p:cNvPr>
          <p:cNvSpPr>
            <a:spLocks noGrp="1"/>
          </p:cNvSpPr>
          <p:nvPr/>
        </p:nvSpPr>
        <p:spPr>
          <a:xfrm>
            <a:off x="8096250" y="2266950"/>
            <a:ext cx="1524000" cy="16002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763416-8E87-455D-9269-E09D690A7C82}"/>
              </a:ext>
            </a:extLst>
          </p:cNvPr>
          <p:cNvSpPr>
            <a:spLocks noGrp="1"/>
          </p:cNvSpPr>
          <p:nvPr/>
        </p:nvSpPr>
        <p:spPr>
          <a:xfrm>
            <a:off x="8248650" y="2419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10284D-88E8-451E-8756-882DD83658BA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LiDAR 观测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5792904-C5F8-4B98-BAFC-D778283E0000}"/>
              </a:ext>
            </a:extLst>
          </p:cNvPr>
          <p:cNvSpPr>
            <a:spLocks noGrp="1"/>
          </p:cNvSpPr>
          <p:nvPr/>
        </p:nvSpPr>
        <p:spPr>
          <a:xfrm>
            <a:off x="8248650" y="3067050"/>
            <a:ext cx="1219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扫描线与噪声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FEFE3E4-6A23-41D3-A603-77DC740BB649}"/>
              </a:ext>
            </a:extLst>
          </p:cNvPr>
          <p:cNvSpPr>
            <a:spLocks noGrp="1"/>
          </p:cNvSpPr>
          <p:nvPr/>
        </p:nvSpPr>
        <p:spPr>
          <a:xfrm>
            <a:off x="9982200" y="2266950"/>
            <a:ext cx="1524000" cy="1600200"/>
          </a:xfrm>
          <a:prstGeom prst="roundRect">
            <a:avLst>
              <a:gd name="adj" fmla="val 5000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91C676D-FD06-4762-B959-D227516BF7F1}"/>
              </a:ext>
            </a:extLst>
          </p:cNvPr>
          <p:cNvSpPr>
            <a:spLocks noGrp="1"/>
          </p:cNvSpPr>
          <p:nvPr/>
        </p:nvSpPr>
        <p:spPr>
          <a:xfrm>
            <a:off x="10134600" y="24193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374699-57E3-40F9-883B-B7103A725498}"/>
              </a:ext>
            </a:extLst>
          </p:cNvPr>
          <p:cNvSpPr>
            <a:spLocks noGrp="1"/>
          </p:cNvSpPr>
          <p:nvPr/>
        </p:nvSpPr>
        <p:spPr>
          <a:xfrm>
            <a:off x="10134600" y="27051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.npz 输出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F8E3A71-C10F-4EF6-A993-2B0153DBFDA8}"/>
              </a:ext>
            </a:extLst>
          </p:cNvPr>
          <p:cNvSpPr>
            <a:spLocks noGrp="1"/>
          </p:cNvSpPr>
          <p:nvPr/>
        </p:nvSpPr>
        <p:spPr>
          <a:xfrm>
            <a:off x="10134600" y="3067050"/>
            <a:ext cx="1219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点、标签、特征</a:t>
            </a:r>
          </a:p>
        </p:txBody>
      </p:sp>
      <p:cxnSp>
        <p:nvCxnSpPr>
          <p:cNvPr id="69" name="直接箭头连接符 68"/>
          <p:cNvCxnSpPr>
            <a:cxnSpLocks/>
            <a:stCxn id="9" idx="1"/>
            <a:endCxn id="5" idx="3"/>
          </p:cNvCxnSpPr>
          <p:nvPr/>
        </p:nvCxnSpPr>
        <p:spPr>
          <a:xfrm flipH="1">
            <a:off x="2076450" y="3067050"/>
            <a:ext cx="36195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70" name="直接箭头连接符 69"/>
          <p:cNvCxnSpPr>
            <a:cxnSpLocks/>
            <a:stCxn id="13" idx="1"/>
            <a:endCxn id="9" idx="3"/>
          </p:cNvCxnSpPr>
          <p:nvPr/>
        </p:nvCxnSpPr>
        <p:spPr>
          <a:xfrm flipH="1">
            <a:off x="3962400" y="3067050"/>
            <a:ext cx="36195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71" name="直接箭头连接符 70"/>
          <p:cNvCxnSpPr>
            <a:cxnSpLocks/>
            <a:stCxn id="17" idx="1"/>
            <a:endCxn id="13" idx="3"/>
          </p:cNvCxnSpPr>
          <p:nvPr/>
        </p:nvCxnSpPr>
        <p:spPr>
          <a:xfrm flipH="1">
            <a:off x="5848350" y="3067050"/>
            <a:ext cx="36195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72" name="直接箭头连接符 71"/>
          <p:cNvCxnSpPr>
            <a:cxnSpLocks/>
            <a:stCxn id="21" idx="1"/>
            <a:endCxn id="17" idx="3"/>
          </p:cNvCxnSpPr>
          <p:nvPr/>
        </p:nvCxnSpPr>
        <p:spPr>
          <a:xfrm flipH="1">
            <a:off x="7734300" y="3067050"/>
            <a:ext cx="36195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73" name="直接箭头连接符 72"/>
          <p:cNvCxnSpPr>
            <a:cxnSpLocks/>
            <a:stCxn id="25" idx="1"/>
            <a:endCxn id="21" idx="3"/>
          </p:cNvCxnSpPr>
          <p:nvPr/>
        </p:nvCxnSpPr>
        <p:spPr>
          <a:xfrm flipH="1">
            <a:off x="9620250" y="3067050"/>
            <a:ext cx="36195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D87A09B-F747-4C14-9BAD-AB6270F8F9F0}"/>
              </a:ext>
            </a:extLst>
          </p:cNvPr>
          <p:cNvSpPr>
            <a:spLocks noGrp="1"/>
          </p:cNvSpPr>
          <p:nvPr/>
        </p:nvSpPr>
        <p:spPr>
          <a:xfrm>
            <a:off x="695325" y="4638675"/>
            <a:ext cx="4953000" cy="971550"/>
          </a:xfrm>
          <a:prstGeom prst="roundRect">
            <a:avLst>
              <a:gd name="adj" fmla="val 7843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CC6CEC5-C83F-4371-A873-5156C4AA0A4E}"/>
              </a:ext>
            </a:extLst>
          </p:cNvPr>
          <p:cNvSpPr>
            <a:spLocks noGrp="1"/>
          </p:cNvSpPr>
          <p:nvPr/>
        </p:nvSpPr>
        <p:spPr>
          <a:xfrm>
            <a:off x="933450" y="4955614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6442"/>
                </a:solidFill>
              </a:defRPr>
            </a:pPr>
            <a:r>
              <a:rPr sz="1500" b="1" dirty="0" err="1">
                <a:solidFill>
                  <a:srgbClr val="C96442"/>
                </a:solidFill>
              </a:rPr>
              <a:t>讲解重点</a:t>
            </a:r>
            <a:endParaRPr sz="1500" b="1" dirty="0">
              <a:solidFill>
                <a:srgbClr val="C96442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B12D8F4-E266-41D1-9F58-BC159AC732A9}"/>
              </a:ext>
            </a:extLst>
          </p:cNvPr>
          <p:cNvSpPr>
            <a:spLocks noGrp="1"/>
          </p:cNvSpPr>
          <p:nvPr/>
        </p:nvSpPr>
        <p:spPr>
          <a:xfrm>
            <a:off x="2309159" y="4800599"/>
            <a:ext cx="3139141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B2118"/>
                </a:solidFill>
              </a:defRPr>
            </a:pPr>
            <a:r>
              <a:rPr sz="1500" b="0" dirty="0" err="1">
                <a:solidFill>
                  <a:srgbClr val="2B2118"/>
                </a:solidFill>
              </a:rPr>
              <a:t>病害先在几何层面形成，再映射成点级标签；这比直接贴标签更自然</a:t>
            </a:r>
            <a:r>
              <a:rPr sz="1500" b="0" dirty="0">
                <a:solidFill>
                  <a:srgbClr val="2B2118"/>
                </a:solidFill>
              </a:rPr>
              <a:t>。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D964162-B4D6-46E3-B02A-226787F430E3}"/>
              </a:ext>
            </a:extLst>
          </p:cNvPr>
          <p:cNvSpPr>
            <a:spLocks noGrp="1"/>
          </p:cNvSpPr>
          <p:nvPr/>
        </p:nvSpPr>
        <p:spPr>
          <a:xfrm>
            <a:off x="6343650" y="4610100"/>
            <a:ext cx="4953000" cy="971550"/>
          </a:xfrm>
          <a:prstGeom prst="roundRect">
            <a:avLst>
              <a:gd name="adj" fmla="val 7843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42D2EA8-7C63-4012-83D7-37285A74C8FC}"/>
              </a:ext>
            </a:extLst>
          </p:cNvPr>
          <p:cNvSpPr>
            <a:spLocks noGrp="1"/>
          </p:cNvSpPr>
          <p:nvPr/>
        </p:nvSpPr>
        <p:spPr>
          <a:xfrm>
            <a:off x="6581775" y="4924424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6442"/>
                </a:solidFill>
              </a:defRPr>
            </a:pPr>
            <a:r>
              <a:rPr sz="1500" b="1" dirty="0" err="1">
                <a:solidFill>
                  <a:srgbClr val="C96442"/>
                </a:solidFill>
              </a:rPr>
              <a:t>代码落点</a:t>
            </a:r>
            <a:endParaRPr sz="1500" b="1" dirty="0">
              <a:solidFill>
                <a:srgbClr val="C96442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56382B-FC1E-4AE9-93F9-68B3FC41E114}"/>
              </a:ext>
            </a:extLst>
          </p:cNvPr>
          <p:cNvSpPr>
            <a:spLocks noGrp="1"/>
          </p:cNvSpPr>
          <p:nvPr/>
        </p:nvSpPr>
        <p:spPr>
          <a:xfrm>
            <a:off x="7848600" y="4800600"/>
            <a:ext cx="319591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B2118"/>
                </a:solidFill>
              </a:defRPr>
            </a:pPr>
            <a:r>
              <a:rPr sz="1500" b="0" dirty="0">
                <a:solidFill>
                  <a:srgbClr val="2B2118"/>
                </a:solidFill>
              </a:rPr>
              <a:t>generator.py 负责调度；primitives.py </a:t>
            </a:r>
            <a:r>
              <a:rPr sz="1500" b="0" dirty="0" err="1">
                <a:solidFill>
                  <a:srgbClr val="2B2118"/>
                </a:solidFill>
              </a:rPr>
              <a:t>提供</a:t>
            </a:r>
            <a:r>
              <a:rPr sz="1500" b="0" dirty="0">
                <a:solidFill>
                  <a:srgbClr val="2B2118"/>
                </a:solidFill>
              </a:rPr>
              <a:t> 11 </a:t>
            </a:r>
            <a:r>
              <a:rPr sz="1500" b="0" dirty="0" err="1">
                <a:solidFill>
                  <a:srgbClr val="2B2118"/>
                </a:solidFill>
              </a:rPr>
              <a:t>类物理</a:t>
            </a:r>
            <a:r>
              <a:rPr sz="1500" b="0" dirty="0">
                <a:solidFill>
                  <a:srgbClr val="2B2118"/>
                </a:solidFill>
              </a:rPr>
              <a:t>/</a:t>
            </a:r>
            <a:r>
              <a:rPr sz="1500" b="0" dirty="0" err="1">
                <a:solidFill>
                  <a:srgbClr val="2B2118"/>
                </a:solidFill>
              </a:rPr>
              <a:t>几何基元</a:t>
            </a:r>
            <a:r>
              <a:rPr sz="1500" b="0" dirty="0">
                <a:solidFill>
                  <a:srgbClr val="2B2118"/>
                </a:solidFill>
              </a:rPr>
              <a:t>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8881C3E-9B64-4E3C-BDAD-C234CB196E34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75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F3AF5D98-D921-4E6A-AE22-B96A20194C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F7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32CBA0-4F42-479C-BB02-AD3465E2AECD}"/>
              </a:ext>
            </a:extLst>
          </p:cNvPr>
          <p:cNvSpPr>
            <a:spLocks noGrp="1"/>
          </p:cNvSpPr>
          <p:nvPr/>
        </p:nvSpPr>
        <p:spPr>
          <a:xfrm>
            <a:off x="514350" y="509588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6442"/>
                </a:solidFill>
              </a:defRPr>
            </a:pPr>
            <a:r>
              <a:rPr sz="1125" b="1" dirty="0" err="1">
                <a:solidFill>
                  <a:srgbClr val="C96442"/>
                </a:solidFill>
              </a:rPr>
              <a:t>模型训练</a:t>
            </a:r>
            <a:endParaRPr sz="1125" b="1" dirty="0">
              <a:solidFill>
                <a:srgbClr val="C96442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66E926-1B33-47CC-A597-16410A125EA4}"/>
              </a:ext>
            </a:extLst>
          </p:cNvPr>
          <p:cNvSpPr>
            <a:spLocks noGrp="1"/>
          </p:cNvSpPr>
          <p:nvPr/>
        </p:nvSpPr>
        <p:spPr>
          <a:xfrm>
            <a:off x="514350" y="104775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B2118"/>
                </a:solidFill>
              </a:defRPr>
            </a:pPr>
            <a:r>
              <a:rPr sz="2850" b="1" dirty="0">
                <a:solidFill>
                  <a:srgbClr val="2B2118"/>
                </a:solidFill>
              </a:rPr>
              <a:t>训练路线先解决“</a:t>
            </a:r>
            <a:r>
              <a:rPr sz="2850" b="1" dirty="0" err="1">
                <a:solidFill>
                  <a:srgbClr val="2B2118"/>
                </a:solidFill>
              </a:rPr>
              <a:t>会不会学到病害</a:t>
            </a:r>
            <a:r>
              <a:rPr sz="2850" b="1" dirty="0">
                <a:solidFill>
                  <a:srgbClr val="2B2118"/>
                </a:solidFill>
              </a:rPr>
              <a:t>”，</a:t>
            </a:r>
            <a:r>
              <a:rPr sz="2850" b="1" dirty="0" err="1">
                <a:solidFill>
                  <a:srgbClr val="2B2118"/>
                </a:solidFill>
              </a:rPr>
              <a:t>再解决“分成哪一类</a:t>
            </a:r>
            <a:r>
              <a:rPr sz="2850" b="1" dirty="0">
                <a:solidFill>
                  <a:srgbClr val="2B2118"/>
                </a:solidFill>
              </a:rPr>
              <a:t>”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377A19C-2D42-41CB-B575-931FD631C3D6}"/>
              </a:ext>
            </a:extLst>
          </p:cNvPr>
          <p:cNvSpPr>
            <a:spLocks noGrp="1"/>
          </p:cNvSpPr>
          <p:nvPr/>
        </p:nvSpPr>
        <p:spPr>
          <a:xfrm>
            <a:off x="1155326" y="2508717"/>
            <a:ext cx="2000250" cy="1390650"/>
          </a:xfrm>
          <a:prstGeom prst="roundRect">
            <a:avLst>
              <a:gd name="adj" fmla="val 5479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A66D58-3EA0-453B-A81B-49E1D78B6F67}"/>
              </a:ext>
            </a:extLst>
          </p:cNvPr>
          <p:cNvSpPr>
            <a:spLocks noGrp="1"/>
          </p:cNvSpPr>
          <p:nvPr/>
        </p:nvSpPr>
        <p:spPr>
          <a:xfrm>
            <a:off x="1307726" y="2661117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607E74-E4DA-403D-A0F9-B1147725C1FE}"/>
              </a:ext>
            </a:extLst>
          </p:cNvPr>
          <p:cNvSpPr>
            <a:spLocks noGrp="1"/>
          </p:cNvSpPr>
          <p:nvPr/>
        </p:nvSpPr>
        <p:spPr>
          <a:xfrm>
            <a:off x="1307726" y="2946867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二分类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587BF5-BC23-438B-9883-37AA94DF789B}"/>
              </a:ext>
            </a:extLst>
          </p:cNvPr>
          <p:cNvSpPr>
            <a:spLocks noGrp="1"/>
          </p:cNvSpPr>
          <p:nvPr/>
        </p:nvSpPr>
        <p:spPr>
          <a:xfrm>
            <a:off x="1307726" y="3308817"/>
            <a:ext cx="1695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背景 / 病害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AAD7770-A2BD-4C54-9CFE-51D926BDE63D}"/>
              </a:ext>
            </a:extLst>
          </p:cNvPr>
          <p:cNvSpPr>
            <a:spLocks noGrp="1"/>
          </p:cNvSpPr>
          <p:nvPr/>
        </p:nvSpPr>
        <p:spPr>
          <a:xfrm>
            <a:off x="3727076" y="2508717"/>
            <a:ext cx="2000250" cy="1390650"/>
          </a:xfrm>
          <a:prstGeom prst="roundRect">
            <a:avLst>
              <a:gd name="adj" fmla="val 5479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B95109-2CB2-4B02-909E-4EAB14C34D6D}"/>
              </a:ext>
            </a:extLst>
          </p:cNvPr>
          <p:cNvSpPr>
            <a:spLocks noGrp="1"/>
          </p:cNvSpPr>
          <p:nvPr/>
        </p:nvSpPr>
        <p:spPr>
          <a:xfrm>
            <a:off x="3879476" y="2661117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7FAB79-F48B-4EA8-9700-821341D78606}"/>
              </a:ext>
            </a:extLst>
          </p:cNvPr>
          <p:cNvSpPr>
            <a:spLocks noGrp="1"/>
          </p:cNvSpPr>
          <p:nvPr/>
        </p:nvSpPr>
        <p:spPr>
          <a:xfrm>
            <a:off x="3879476" y="2946867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阈值校准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DDC9E2-C129-46A2-AA98-4467F79C532C}"/>
              </a:ext>
            </a:extLst>
          </p:cNvPr>
          <p:cNvSpPr>
            <a:spLocks noGrp="1"/>
          </p:cNvSpPr>
          <p:nvPr/>
        </p:nvSpPr>
        <p:spPr>
          <a:xfrm>
            <a:off x="3879476" y="3308817"/>
            <a:ext cx="1695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约 0.44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ACB0971-C76B-410D-9CCA-1EEC9401E074}"/>
              </a:ext>
            </a:extLst>
          </p:cNvPr>
          <p:cNvSpPr>
            <a:spLocks noGrp="1"/>
          </p:cNvSpPr>
          <p:nvPr/>
        </p:nvSpPr>
        <p:spPr>
          <a:xfrm>
            <a:off x="6298826" y="2508717"/>
            <a:ext cx="2000250" cy="1390650"/>
          </a:xfrm>
          <a:prstGeom prst="roundRect">
            <a:avLst>
              <a:gd name="adj" fmla="val 5479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1B883C-A496-48AE-B014-BE43351EE3CD}"/>
              </a:ext>
            </a:extLst>
          </p:cNvPr>
          <p:cNvSpPr>
            <a:spLocks noGrp="1"/>
          </p:cNvSpPr>
          <p:nvPr/>
        </p:nvSpPr>
        <p:spPr>
          <a:xfrm>
            <a:off x="6451226" y="2661117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AADCD9-F7EA-4B8C-A2E9-6FF2E0810104}"/>
              </a:ext>
            </a:extLst>
          </p:cNvPr>
          <p:cNvSpPr>
            <a:spLocks noGrp="1"/>
          </p:cNvSpPr>
          <p:nvPr/>
        </p:nvSpPr>
        <p:spPr>
          <a:xfrm>
            <a:off x="6451226" y="2946867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迁移骨干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BCCCB1-375B-450F-BADE-D5FAD1AB7191}"/>
              </a:ext>
            </a:extLst>
          </p:cNvPr>
          <p:cNvSpPr>
            <a:spLocks noGrp="1"/>
          </p:cNvSpPr>
          <p:nvPr/>
        </p:nvSpPr>
        <p:spPr>
          <a:xfrm>
            <a:off x="6451226" y="3308817"/>
            <a:ext cx="1695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复用 backbone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8B69BB0-BC6B-4E22-BA1D-616160576527}"/>
              </a:ext>
            </a:extLst>
          </p:cNvPr>
          <p:cNvSpPr>
            <a:spLocks noGrp="1"/>
          </p:cNvSpPr>
          <p:nvPr/>
        </p:nvSpPr>
        <p:spPr>
          <a:xfrm>
            <a:off x="8870576" y="2508717"/>
            <a:ext cx="2000250" cy="1390650"/>
          </a:xfrm>
          <a:prstGeom prst="roundRect">
            <a:avLst>
              <a:gd name="adj" fmla="val 5479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8E83DE-D6A3-483E-9E17-83BD3A93FFC6}"/>
              </a:ext>
            </a:extLst>
          </p:cNvPr>
          <p:cNvSpPr>
            <a:spLocks noGrp="1"/>
          </p:cNvSpPr>
          <p:nvPr/>
        </p:nvSpPr>
        <p:spPr>
          <a:xfrm>
            <a:off x="9022976" y="2661117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33750E-8406-404C-A5C5-250F3E78A010}"/>
              </a:ext>
            </a:extLst>
          </p:cNvPr>
          <p:cNvSpPr>
            <a:spLocks noGrp="1"/>
          </p:cNvSpPr>
          <p:nvPr/>
        </p:nvSpPr>
        <p:spPr>
          <a:xfrm>
            <a:off x="9022976" y="2946867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38 类细分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F3820E7-5BDA-49D7-A944-D90FBED153E8}"/>
              </a:ext>
            </a:extLst>
          </p:cNvPr>
          <p:cNvSpPr>
            <a:spLocks noGrp="1"/>
          </p:cNvSpPr>
          <p:nvPr/>
        </p:nvSpPr>
        <p:spPr>
          <a:xfrm>
            <a:off x="9022976" y="3308817"/>
            <a:ext cx="1695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分阶段推进</a:t>
            </a:r>
          </a:p>
        </p:txBody>
      </p:sp>
      <p:cxnSp>
        <p:nvCxnSpPr>
          <p:cNvPr id="51" name="直接箭头连接符 50"/>
          <p:cNvCxnSpPr>
            <a:cxnSpLocks/>
            <a:stCxn id="8" idx="1"/>
            <a:endCxn id="4" idx="3"/>
          </p:cNvCxnSpPr>
          <p:nvPr/>
        </p:nvCxnSpPr>
        <p:spPr>
          <a:xfrm flipH="1">
            <a:off x="3155576" y="3204042"/>
            <a:ext cx="57150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52" name="直接箭头连接符 51"/>
          <p:cNvCxnSpPr>
            <a:cxnSpLocks/>
            <a:stCxn id="12" idx="1"/>
            <a:endCxn id="8" idx="3"/>
          </p:cNvCxnSpPr>
          <p:nvPr/>
        </p:nvCxnSpPr>
        <p:spPr>
          <a:xfrm flipH="1">
            <a:off x="5727326" y="3204042"/>
            <a:ext cx="57150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53" name="直接箭头连接符 52"/>
          <p:cNvCxnSpPr>
            <a:cxnSpLocks/>
            <a:stCxn id="16" idx="1"/>
            <a:endCxn id="12" idx="3"/>
          </p:cNvCxnSpPr>
          <p:nvPr/>
        </p:nvCxnSpPr>
        <p:spPr>
          <a:xfrm flipH="1">
            <a:off x="8299076" y="3204042"/>
            <a:ext cx="57150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1DFC3B9-78D9-424B-AB8B-F5B519832A69}"/>
              </a:ext>
            </a:extLst>
          </p:cNvPr>
          <p:cNvSpPr>
            <a:spLocks noGrp="1"/>
          </p:cNvSpPr>
          <p:nvPr/>
        </p:nvSpPr>
        <p:spPr>
          <a:xfrm>
            <a:off x="847725" y="4619625"/>
            <a:ext cx="5048250" cy="123825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300C265-05BA-4A37-B762-EC87774E55A5}"/>
              </a:ext>
            </a:extLst>
          </p:cNvPr>
          <p:cNvSpPr>
            <a:spLocks noGrp="1"/>
          </p:cNvSpPr>
          <p:nvPr/>
        </p:nvSpPr>
        <p:spPr>
          <a:xfrm>
            <a:off x="840815" y="4628216"/>
            <a:ext cx="57150" cy="1238250"/>
          </a:xfrm>
          <a:prstGeom prst="rect">
            <a:avLst/>
          </a:prstGeom>
          <a:solidFill>
            <a:srgbClr val="C96442"/>
          </a:solidFill>
          <a:ln w="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E652BF-F0C1-4CEC-9985-D55CD3EEEF67}"/>
              </a:ext>
            </a:extLst>
          </p:cNvPr>
          <p:cNvSpPr>
            <a:spLocks noGrp="1"/>
          </p:cNvSpPr>
          <p:nvPr/>
        </p:nvSpPr>
        <p:spPr>
          <a:xfrm>
            <a:off x="1155326" y="4829175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B2118"/>
                </a:solidFill>
              </a:defRPr>
            </a:pPr>
            <a:r>
              <a:rPr sz="1800" b="1" dirty="0" err="1">
                <a:solidFill>
                  <a:srgbClr val="2B2118"/>
                </a:solidFill>
              </a:rPr>
              <a:t>结构选择</a:t>
            </a:r>
            <a:endParaRPr sz="1800" b="1" dirty="0">
              <a:solidFill>
                <a:srgbClr val="2B2118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11513E-33AB-4187-9F06-0D6C133B49BC}"/>
              </a:ext>
            </a:extLst>
          </p:cNvPr>
          <p:cNvSpPr>
            <a:spLocks noGrp="1"/>
          </p:cNvSpPr>
          <p:nvPr/>
        </p:nvSpPr>
        <p:spPr>
          <a:xfrm>
            <a:off x="1155326" y="5105399"/>
            <a:ext cx="4591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F6257"/>
                </a:solidFill>
              </a:defRPr>
            </a:pPr>
            <a:r>
              <a:rPr sz="1425" b="0" dirty="0">
                <a:solidFill>
                  <a:srgbClr val="6F6257"/>
                </a:solidFill>
              </a:rPr>
              <a:t>Swin3D </a:t>
            </a:r>
            <a:r>
              <a:rPr sz="1425" b="0" dirty="0" err="1">
                <a:solidFill>
                  <a:srgbClr val="6F6257"/>
                </a:solidFill>
              </a:rPr>
              <a:t>是当前更稳的精度基线；PointMamba-inspired</a:t>
            </a:r>
            <a:r>
              <a:rPr sz="1425" b="0" dirty="0">
                <a:solidFill>
                  <a:srgbClr val="6F6257"/>
                </a:solidFill>
              </a:rPr>
              <a:t> </a:t>
            </a:r>
            <a:r>
              <a:rPr sz="1425" b="0" dirty="0" err="1">
                <a:solidFill>
                  <a:srgbClr val="6F6257"/>
                </a:solidFill>
              </a:rPr>
              <a:t>更轻量，适合继续做速度和结构探索</a:t>
            </a:r>
            <a:r>
              <a:rPr sz="1425" b="0" dirty="0">
                <a:solidFill>
                  <a:srgbClr val="6F6257"/>
                </a:solidFill>
              </a:rPr>
              <a:t>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957681D-D29F-481A-9C65-56F7CA6A5CAD}"/>
              </a:ext>
            </a:extLst>
          </p:cNvPr>
          <p:cNvSpPr>
            <a:spLocks noGrp="1"/>
          </p:cNvSpPr>
          <p:nvPr/>
        </p:nvSpPr>
        <p:spPr>
          <a:xfrm>
            <a:off x="6386046" y="4603003"/>
            <a:ext cx="5048250" cy="1238250"/>
          </a:xfrm>
          <a:prstGeom prst="roundRect">
            <a:avLst>
              <a:gd name="adj" fmla="val 6154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F36CDF-4723-4A0D-A6E6-C5F0D85F0D49}"/>
              </a:ext>
            </a:extLst>
          </p:cNvPr>
          <p:cNvSpPr>
            <a:spLocks noGrp="1"/>
          </p:cNvSpPr>
          <p:nvPr/>
        </p:nvSpPr>
        <p:spPr>
          <a:xfrm>
            <a:off x="6386046" y="4619625"/>
            <a:ext cx="57150" cy="1238250"/>
          </a:xfrm>
          <a:prstGeom prst="rect">
            <a:avLst/>
          </a:prstGeom>
          <a:solidFill>
            <a:srgbClr val="C96442"/>
          </a:solidFill>
          <a:ln w="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A969CA-2F09-4B29-922F-1AA4FF3DE46A}"/>
              </a:ext>
            </a:extLst>
          </p:cNvPr>
          <p:cNvSpPr>
            <a:spLocks noGrp="1"/>
          </p:cNvSpPr>
          <p:nvPr/>
        </p:nvSpPr>
        <p:spPr>
          <a:xfrm>
            <a:off x="6614646" y="4829175"/>
            <a:ext cx="4591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B2118"/>
                </a:solidFill>
              </a:defRPr>
            </a:pPr>
            <a:r>
              <a:rPr sz="1800" b="1" dirty="0" err="1">
                <a:solidFill>
                  <a:srgbClr val="2B2118"/>
                </a:solidFill>
              </a:rPr>
              <a:t>训练配方</a:t>
            </a:r>
            <a:endParaRPr sz="1800" b="1" dirty="0">
              <a:solidFill>
                <a:srgbClr val="2B2118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9D8D11-C175-4A51-9935-0EF7DB75ECC0}"/>
              </a:ext>
            </a:extLst>
          </p:cNvPr>
          <p:cNvSpPr>
            <a:spLocks noGrp="1"/>
          </p:cNvSpPr>
          <p:nvPr/>
        </p:nvSpPr>
        <p:spPr>
          <a:xfrm>
            <a:off x="6614646" y="5153025"/>
            <a:ext cx="4591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F6257"/>
                </a:solidFill>
              </a:defRPr>
            </a:pPr>
            <a:r>
              <a:rPr sz="1425" b="0" dirty="0" err="1">
                <a:solidFill>
                  <a:srgbClr val="6F6257"/>
                </a:solidFill>
              </a:rPr>
              <a:t>mHC</a:t>
            </a:r>
            <a:r>
              <a:rPr sz="1425" b="0" dirty="0">
                <a:solidFill>
                  <a:srgbClr val="6F6257"/>
                </a:solidFill>
              </a:rPr>
              <a:t> </a:t>
            </a:r>
            <a:r>
              <a:rPr sz="1425" b="0" dirty="0" err="1">
                <a:solidFill>
                  <a:srgbClr val="6F6257"/>
                </a:solidFill>
              </a:rPr>
              <a:t>做通道混合；Focal</a:t>
            </a:r>
            <a:r>
              <a:rPr sz="1425" b="0" dirty="0">
                <a:solidFill>
                  <a:srgbClr val="6F6257"/>
                </a:solidFill>
              </a:rPr>
              <a:t> + Dice + Edge </a:t>
            </a:r>
            <a:r>
              <a:rPr sz="1425" b="0" dirty="0" err="1">
                <a:solidFill>
                  <a:srgbClr val="6F6257"/>
                </a:solidFill>
              </a:rPr>
              <a:t>对应长尾、小目标和边界；Muon</a:t>
            </a:r>
            <a:r>
              <a:rPr sz="1425" b="0" dirty="0">
                <a:solidFill>
                  <a:srgbClr val="6F6257"/>
                </a:solidFill>
              </a:rPr>
              <a:t> + </a:t>
            </a:r>
            <a:r>
              <a:rPr sz="1425" b="0" dirty="0" err="1">
                <a:solidFill>
                  <a:srgbClr val="6F6257"/>
                </a:solidFill>
              </a:rPr>
              <a:t>AdamW</a:t>
            </a:r>
            <a:r>
              <a:rPr sz="1425" b="0" dirty="0">
                <a:solidFill>
                  <a:srgbClr val="6F6257"/>
                </a:solidFill>
              </a:rPr>
              <a:t> </a:t>
            </a:r>
            <a:r>
              <a:rPr sz="1425" b="0" dirty="0" err="1">
                <a:solidFill>
                  <a:srgbClr val="6F6257"/>
                </a:solidFill>
              </a:rPr>
              <a:t>提供混合优化</a:t>
            </a:r>
            <a:r>
              <a:rPr sz="1425" b="0" dirty="0">
                <a:solidFill>
                  <a:srgbClr val="6F6257"/>
                </a:solidFill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D1E47E8-1915-4721-8841-27EFA6531243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2290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B0E860B-716B-460A-827D-1CD64E61FF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F7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8FD79F-0183-469B-95E4-DEBCF0A8CAFF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扩展支线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5F41C3-9268-4C18-884C-1D1CF192313A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GAN 和 end2end 是通向真实域适配的支线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234558-B267-4C7F-B47C-1D8D8430E095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866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F6257"/>
                </a:solidFill>
              </a:defRPr>
            </a:pPr>
            <a:r>
              <a:rPr sz="1650" b="0">
                <a:solidFill>
                  <a:srgbClr val="6F6257"/>
                </a:solidFill>
              </a:rPr>
              <a:t>它们不是当前最稳结果来源，但解释了项目后续如何从合成走向真实。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D5532A5-DCBB-4B8F-A6B2-DAFE17778348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1905000" cy="13335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50D98B-5466-476F-835F-8092F6CBFD8F}"/>
              </a:ext>
            </a:extLst>
          </p:cNvPr>
          <p:cNvSpPr>
            <a:spLocks noGrp="1"/>
          </p:cNvSpPr>
          <p:nvPr/>
        </p:nvSpPr>
        <p:spPr>
          <a:xfrm>
            <a:off x="1066800" y="2533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06B981-39DF-463B-A4AC-1A904D155478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合成点云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6BF025-A2B4-467A-935F-8FA8B9AE243D}"/>
              </a:ext>
            </a:extLst>
          </p:cNvPr>
          <p:cNvSpPr>
            <a:spLocks noGrp="1"/>
          </p:cNvSpPr>
          <p:nvPr/>
        </p:nvSpPr>
        <p:spPr>
          <a:xfrm>
            <a:off x="1066800" y="3181350"/>
            <a:ext cx="1600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points + normals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98591BB-84CB-4EF2-8483-52E001258574}"/>
              </a:ext>
            </a:extLst>
          </p:cNvPr>
          <p:cNvSpPr>
            <a:spLocks noGrp="1"/>
          </p:cNvSpPr>
          <p:nvPr/>
        </p:nvSpPr>
        <p:spPr>
          <a:xfrm>
            <a:off x="3752850" y="2381250"/>
            <a:ext cx="2286000" cy="1333500"/>
          </a:xfrm>
          <a:prstGeom prst="roundRect">
            <a:avLst>
              <a:gd name="adj" fmla="val 5714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5B67B2-CC9C-4D7E-8F09-93480B697EE8}"/>
              </a:ext>
            </a:extLst>
          </p:cNvPr>
          <p:cNvSpPr>
            <a:spLocks noGrp="1"/>
          </p:cNvSpPr>
          <p:nvPr/>
        </p:nvSpPr>
        <p:spPr>
          <a:xfrm>
            <a:off x="3905250" y="2533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120E35-A21C-4771-BF5E-413C2C948F42}"/>
              </a:ext>
            </a:extLst>
          </p:cNvPr>
          <p:cNvSpPr>
            <a:spLocks noGrp="1"/>
          </p:cNvSpPr>
          <p:nvPr/>
        </p:nvSpPr>
        <p:spPr>
          <a:xfrm>
            <a:off x="3905250" y="281940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StyleTransferGen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4F4B38-D228-401A-9053-2CB1EED4BF9A}"/>
              </a:ext>
            </a:extLst>
          </p:cNvPr>
          <p:cNvSpPr>
            <a:spLocks noGrp="1"/>
          </p:cNvSpPr>
          <p:nvPr/>
        </p:nvSpPr>
        <p:spPr>
          <a:xfrm>
            <a:off x="3905250" y="3181350"/>
            <a:ext cx="1981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预测坐标和法向残差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479D4C4-A8B7-40EE-B1EA-2EFC0E17AFAC}"/>
              </a:ext>
            </a:extLst>
          </p:cNvPr>
          <p:cNvSpPr>
            <a:spLocks noGrp="1"/>
          </p:cNvSpPr>
          <p:nvPr/>
        </p:nvSpPr>
        <p:spPr>
          <a:xfrm>
            <a:off x="6972300" y="2381250"/>
            <a:ext cx="2286000" cy="13335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A85C1C-F0D5-454A-97B5-E18EB0306CF5}"/>
              </a:ext>
            </a:extLst>
          </p:cNvPr>
          <p:cNvSpPr>
            <a:spLocks noGrp="1"/>
          </p:cNvSpPr>
          <p:nvPr/>
        </p:nvSpPr>
        <p:spPr>
          <a:xfrm>
            <a:off x="7124700" y="25336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CA2B2A-4549-4E75-AD36-6DC4CBB64686}"/>
              </a:ext>
            </a:extLst>
          </p:cNvPr>
          <p:cNvSpPr>
            <a:spLocks noGrp="1"/>
          </p:cNvSpPr>
          <p:nvPr/>
        </p:nvSpPr>
        <p:spPr>
          <a:xfrm>
            <a:off x="7124700" y="281940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WGAN 判别器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213A3F-E0EF-4EFB-A7F6-EB521B9A55ED}"/>
              </a:ext>
            </a:extLst>
          </p:cNvPr>
          <p:cNvSpPr>
            <a:spLocks noGrp="1"/>
          </p:cNvSpPr>
          <p:nvPr/>
        </p:nvSpPr>
        <p:spPr>
          <a:xfrm>
            <a:off x="7124700" y="3181350"/>
            <a:ext cx="1981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判断风格是否更真实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3BC06E4-368D-4AF1-818D-6852F7B176B9}"/>
              </a:ext>
            </a:extLst>
          </p:cNvPr>
          <p:cNvSpPr>
            <a:spLocks noGrp="1"/>
          </p:cNvSpPr>
          <p:nvPr/>
        </p:nvSpPr>
        <p:spPr>
          <a:xfrm>
            <a:off x="6972300" y="4495800"/>
            <a:ext cx="2286000" cy="1123950"/>
          </a:xfrm>
          <a:prstGeom prst="roundRect">
            <a:avLst>
              <a:gd name="adj" fmla="val 6780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611BC8-4F09-4F54-BF74-54F0BE7A675E}"/>
              </a:ext>
            </a:extLst>
          </p:cNvPr>
          <p:cNvSpPr>
            <a:spLocks noGrp="1"/>
          </p:cNvSpPr>
          <p:nvPr/>
        </p:nvSpPr>
        <p:spPr>
          <a:xfrm>
            <a:off x="7124700" y="46482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400F3C-58F4-4A51-A1B4-B237A937B3BC}"/>
              </a:ext>
            </a:extLst>
          </p:cNvPr>
          <p:cNvSpPr>
            <a:spLocks noGrp="1"/>
          </p:cNvSpPr>
          <p:nvPr/>
        </p:nvSpPr>
        <p:spPr>
          <a:xfrm>
            <a:off x="7124700" y="493395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分割模型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8DCACA-AC24-4DE3-92A3-4786F0DEA4E3}"/>
              </a:ext>
            </a:extLst>
          </p:cNvPr>
          <p:cNvSpPr>
            <a:spLocks noGrp="1"/>
          </p:cNvSpPr>
          <p:nvPr/>
        </p:nvSpPr>
        <p:spPr>
          <a:xfrm>
            <a:off x="7124700" y="529590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在风格化点云上训练</a:t>
            </a:r>
          </a:p>
        </p:txBody>
      </p:sp>
      <p:cxnSp>
        <p:nvCxnSpPr>
          <p:cNvPr id="48" name="直接箭头连接符 47"/>
          <p:cNvCxnSpPr>
            <a:stCxn id="5" idx="3"/>
            <a:endCxn id="9" idx="1"/>
          </p:cNvCxnSpPr>
          <p:nvPr/>
        </p:nvCxnSpPr>
        <p:spPr>
          <a:xfrm>
            <a:off x="2819400" y="3048000"/>
            <a:ext cx="93345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49" name="直接箭头连接符 48"/>
          <p:cNvCxnSpPr>
            <a:stCxn id="9" idx="3"/>
            <a:endCxn id="13" idx="1"/>
          </p:cNvCxnSpPr>
          <p:nvPr/>
        </p:nvCxnSpPr>
        <p:spPr>
          <a:xfrm>
            <a:off x="6038850" y="3048000"/>
            <a:ext cx="933450" cy="0"/>
          </a:xfrm>
          <a:prstGeom prst="straightConnector1">
            <a:avLst/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cxnSp>
        <p:nvCxnSpPr>
          <p:cNvPr id="50" name="连接符: 肘形 49"/>
          <p:cNvCxnSpPr>
            <a:stCxn id="9" idx="2"/>
            <a:endCxn id="17" idx="1"/>
          </p:cNvCxnSpPr>
          <p:nvPr/>
        </p:nvCxnSpPr>
        <p:spPr>
          <a:xfrm>
            <a:off x="4895850" y="3714750"/>
            <a:ext cx="2076450" cy="1343025"/>
          </a:xfrm>
          <a:prstGeom prst="bentConnector5">
            <a:avLst>
              <a:gd name="adj1" fmla="val 0"/>
              <a:gd name="adj2" fmla="val 17021"/>
              <a:gd name="adj3" fmla="val 88991"/>
            </a:avLst>
          </a:prstGeom>
          <a:ln w="19050">
            <a:solidFill>
              <a:srgbClr val="E4A27E"/>
            </a:solidFill>
            <a:prstDash val="solid"/>
            <a:headEnd type="arrow" w="sm" len="sm"/>
          </a:ln>
        </p:spPr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F4D554E-B14A-4F6A-984E-A82310D69BBA}"/>
              </a:ext>
            </a:extLst>
          </p:cNvPr>
          <p:cNvSpPr>
            <a:spLocks noGrp="1"/>
          </p:cNvSpPr>
          <p:nvPr/>
        </p:nvSpPr>
        <p:spPr>
          <a:xfrm>
            <a:off x="9715500" y="2362200"/>
            <a:ext cx="1524000" cy="3200400"/>
          </a:xfrm>
          <a:prstGeom prst="roundRect">
            <a:avLst>
              <a:gd name="adj" fmla="val 5000"/>
            </a:avLst>
          </a:prstGeom>
          <a:solidFill>
            <a:srgbClr val="EFE4D6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9B6E721-56F8-4D6B-9397-263456252B26}"/>
              </a:ext>
            </a:extLst>
          </p:cNvPr>
          <p:cNvSpPr>
            <a:spLocks noGrp="1"/>
          </p:cNvSpPr>
          <p:nvPr/>
        </p:nvSpPr>
        <p:spPr>
          <a:xfrm>
            <a:off x="10001250" y="26860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C96442"/>
                </a:solidFill>
              </a:defRPr>
            </a:pPr>
            <a:r>
              <a:rPr sz="1725" b="1">
                <a:solidFill>
                  <a:srgbClr val="C96442"/>
                </a:solidFill>
              </a:rPr>
              <a:t>定位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974E8B8-40E5-4855-A988-46EBAFA05223}"/>
              </a:ext>
            </a:extLst>
          </p:cNvPr>
          <p:cNvSpPr>
            <a:spLocks noGrp="1"/>
          </p:cNvSpPr>
          <p:nvPr/>
        </p:nvSpPr>
        <p:spPr>
          <a:xfrm>
            <a:off x="10001250" y="3181350"/>
            <a:ext cx="8763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B2118"/>
                </a:solidFill>
              </a:defRPr>
            </a:pPr>
            <a:r>
              <a:rPr sz="1350" b="0">
                <a:solidFill>
                  <a:srgbClr val="2B2118"/>
                </a:solidFill>
              </a:rPr>
              <a:t>当前主结果仍来自 baseline；GAN / end2end 后续承担域适配验证。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0F80E1F-74D3-431D-8B8C-CF1CFF802980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2234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67CAE2F2-343E-43B6-B714-F227B797CD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F7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03C5EB-64B8-438D-ADA9-4CB1BBC97AC5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阶段结果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32C34D-4156-4F3A-A152-9F7F4811A240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当前结果说明路线可行，但还不是最终泛化结论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CAE0DEC-A082-4C50-BC7C-0EABEA302A7F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2190750" cy="1390650"/>
          </a:xfrm>
          <a:prstGeom prst="roundRect">
            <a:avLst>
              <a:gd name="adj" fmla="val 5479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103FB3-49FA-4CAA-9F2E-0C8081C93B56}"/>
              </a:ext>
            </a:extLst>
          </p:cNvPr>
          <p:cNvSpPr>
            <a:spLocks noGrp="1"/>
          </p:cNvSpPr>
          <p:nvPr/>
        </p:nvSpPr>
        <p:spPr>
          <a:xfrm>
            <a:off x="876300" y="1981200"/>
            <a:ext cx="1847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C96442"/>
                </a:solidFill>
              </a:defRPr>
            </a:pPr>
            <a:r>
              <a:rPr sz="2850" b="1">
                <a:solidFill>
                  <a:srgbClr val="C96442"/>
                </a:solidFill>
              </a:rPr>
              <a:t>0.7319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7E8B9A-9F46-4C90-B308-784CA9F3BA45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184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Swin3D + mHC</a:t>
            </a:r>
          </a:p>
          <a:p>
            <a:pPr algn="l"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校准后全局点级 mIoU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87C0949-4801-48EA-94D3-B67E25D64C69}"/>
              </a:ext>
            </a:extLst>
          </p:cNvPr>
          <p:cNvSpPr>
            <a:spLocks noGrp="1"/>
          </p:cNvSpPr>
          <p:nvPr/>
        </p:nvSpPr>
        <p:spPr>
          <a:xfrm>
            <a:off x="3105150" y="1809750"/>
            <a:ext cx="2000250" cy="1390650"/>
          </a:xfrm>
          <a:prstGeom prst="roundRect">
            <a:avLst>
              <a:gd name="adj" fmla="val 5479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205381-94CC-4492-99EA-8973DE68356A}"/>
              </a:ext>
            </a:extLst>
          </p:cNvPr>
          <p:cNvSpPr>
            <a:spLocks noGrp="1"/>
          </p:cNvSpPr>
          <p:nvPr/>
        </p:nvSpPr>
        <p:spPr>
          <a:xfrm>
            <a:off x="3276600" y="1981200"/>
            <a:ext cx="1657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C96442"/>
                </a:solidFill>
              </a:defRPr>
            </a:pPr>
            <a:r>
              <a:rPr sz="2850" b="1">
                <a:solidFill>
                  <a:srgbClr val="C96442"/>
                </a:solidFill>
              </a:rPr>
              <a:t>0.7052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0ADC8F-6435-4F04-9212-33DD20D039C4}"/>
              </a:ext>
            </a:extLst>
          </p:cNvPr>
          <p:cNvSpPr>
            <a:spLocks noGrp="1"/>
          </p:cNvSpPr>
          <p:nvPr/>
        </p:nvSpPr>
        <p:spPr>
          <a:xfrm>
            <a:off x="3276600" y="2552700"/>
            <a:ext cx="1657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disease IoU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1ECA9F4-B8A3-42C5-838F-AE54A6927708}"/>
              </a:ext>
            </a:extLst>
          </p:cNvPr>
          <p:cNvSpPr>
            <a:spLocks noGrp="1"/>
          </p:cNvSpPr>
          <p:nvPr/>
        </p:nvSpPr>
        <p:spPr>
          <a:xfrm>
            <a:off x="5314950" y="1809750"/>
            <a:ext cx="2000250" cy="1390650"/>
          </a:xfrm>
          <a:prstGeom prst="roundRect">
            <a:avLst>
              <a:gd name="adj" fmla="val 5479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7596AD-4D1D-48D6-AF4D-2BFCDB433C68}"/>
              </a:ext>
            </a:extLst>
          </p:cNvPr>
          <p:cNvSpPr>
            <a:spLocks noGrp="1"/>
          </p:cNvSpPr>
          <p:nvPr/>
        </p:nvSpPr>
        <p:spPr>
          <a:xfrm>
            <a:off x="5486400" y="1981200"/>
            <a:ext cx="1657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C96442"/>
                </a:solidFill>
              </a:defRPr>
            </a:pPr>
            <a:r>
              <a:rPr sz="2850" b="1">
                <a:solidFill>
                  <a:srgbClr val="C96442"/>
                </a:solidFill>
              </a:rPr>
              <a:t>0.9039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261629-A106-46EF-AE6A-4C8B0F9B9410}"/>
              </a:ext>
            </a:extLst>
          </p:cNvPr>
          <p:cNvSpPr>
            <a:spLocks noGrp="1"/>
          </p:cNvSpPr>
          <p:nvPr/>
        </p:nvSpPr>
        <p:spPr>
          <a:xfrm>
            <a:off x="5486400" y="2552700"/>
            <a:ext cx="1657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precision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572BCF6-7A07-4870-869C-65F847D7C3CF}"/>
              </a:ext>
            </a:extLst>
          </p:cNvPr>
          <p:cNvSpPr>
            <a:spLocks noGrp="1"/>
          </p:cNvSpPr>
          <p:nvPr/>
        </p:nvSpPr>
        <p:spPr>
          <a:xfrm>
            <a:off x="7524750" y="1809750"/>
            <a:ext cx="2000250" cy="1390650"/>
          </a:xfrm>
          <a:prstGeom prst="roundRect">
            <a:avLst>
              <a:gd name="adj" fmla="val 5479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C53A06-82E3-4486-8D8B-B61EB8F0CED4}"/>
              </a:ext>
            </a:extLst>
          </p:cNvPr>
          <p:cNvSpPr>
            <a:spLocks noGrp="1"/>
          </p:cNvSpPr>
          <p:nvPr/>
        </p:nvSpPr>
        <p:spPr>
          <a:xfrm>
            <a:off x="7696200" y="1981200"/>
            <a:ext cx="16573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C96442"/>
                </a:solidFill>
              </a:defRPr>
            </a:pPr>
            <a:r>
              <a:rPr sz="2850" b="1">
                <a:solidFill>
                  <a:srgbClr val="C96442"/>
                </a:solidFill>
              </a:rPr>
              <a:t>0.7624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3F2638-811F-4AEC-A4F6-7BFA3651268C}"/>
              </a:ext>
            </a:extLst>
          </p:cNvPr>
          <p:cNvSpPr>
            <a:spLocks noGrp="1"/>
          </p:cNvSpPr>
          <p:nvPr/>
        </p:nvSpPr>
        <p:spPr>
          <a:xfrm>
            <a:off x="7696200" y="2552700"/>
            <a:ext cx="1657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recall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A668F8B-4B9E-436B-B262-8AA662E507B5}"/>
              </a:ext>
            </a:extLst>
          </p:cNvPr>
          <p:cNvSpPr>
            <a:spLocks noGrp="1"/>
          </p:cNvSpPr>
          <p:nvPr/>
        </p:nvSpPr>
        <p:spPr>
          <a:xfrm>
            <a:off x="9734550" y="1809750"/>
            <a:ext cx="1809750" cy="1390650"/>
          </a:xfrm>
          <a:prstGeom prst="roundRect">
            <a:avLst>
              <a:gd name="adj" fmla="val 5479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EB9587-83E0-4E98-B950-D47FFA9628DF}"/>
              </a:ext>
            </a:extLst>
          </p:cNvPr>
          <p:cNvSpPr>
            <a:spLocks noGrp="1"/>
          </p:cNvSpPr>
          <p:nvPr/>
        </p:nvSpPr>
        <p:spPr>
          <a:xfrm>
            <a:off x="9906000" y="1981200"/>
            <a:ext cx="1466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B2118"/>
                </a:solidFill>
              </a:defRPr>
            </a:pPr>
            <a:r>
              <a:rPr sz="2850" b="1">
                <a:solidFill>
                  <a:srgbClr val="2B2118"/>
                </a:solidFill>
              </a:rPr>
              <a:t>0.5671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03B818-BE87-4476-8330-33BFEF0460DD}"/>
              </a:ext>
            </a:extLst>
          </p:cNvPr>
          <p:cNvSpPr>
            <a:spLocks noGrp="1"/>
          </p:cNvSpPr>
          <p:nvPr/>
        </p:nvSpPr>
        <p:spPr>
          <a:xfrm>
            <a:off x="9906000" y="2552700"/>
            <a:ext cx="1466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PointMamba + mHC</a:t>
            </a:r>
          </a:p>
          <a:p>
            <a:pPr algn="l">
              <a:defRPr sz="1200" b="0">
                <a:solidFill>
                  <a:srgbClr val="6F6257"/>
                </a:solidFill>
              </a:defRPr>
            </a:pPr>
            <a:r>
              <a:rPr sz="1200" b="0">
                <a:solidFill>
                  <a:srgbClr val="6F6257"/>
                </a:solidFill>
              </a:rPr>
              <a:t>二分类短跑 mIoU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3FD4FE1-F8DB-4E42-B627-9C2C06E60500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EFE4D6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19AC32-4BAB-4236-B8A1-1EADDDC41D9F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57150" cy="1238250"/>
          </a:xfrm>
          <a:prstGeom prst="rect">
            <a:avLst/>
          </a:prstGeom>
          <a:solidFill>
            <a:srgbClr val="C96442"/>
          </a:solidFill>
          <a:ln w="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1540225-0F73-4DA7-AF92-A617C8EADD98}"/>
              </a:ext>
            </a:extLst>
          </p:cNvPr>
          <p:cNvSpPr>
            <a:spLocks noGrp="1"/>
          </p:cNvSpPr>
          <p:nvPr/>
        </p:nvSpPr>
        <p:spPr>
          <a:xfrm>
            <a:off x="1104900" y="430530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B2118"/>
                </a:solidFill>
              </a:defRPr>
            </a:pPr>
            <a:r>
              <a:rPr sz="1800" b="1">
                <a:solidFill>
                  <a:srgbClr val="2B2118"/>
                </a:solidFill>
              </a:rPr>
              <a:t>必须主动说明的限制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CDDFA26-30AC-4306-A188-5A0048C3E2C2}"/>
              </a:ext>
            </a:extLst>
          </p:cNvPr>
          <p:cNvSpPr>
            <a:spLocks noGrp="1"/>
          </p:cNvSpPr>
          <p:nvPr/>
        </p:nvSpPr>
        <p:spPr>
          <a:xfrm>
            <a:off x="1104900" y="47434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F6257"/>
                </a:solidFill>
              </a:defRPr>
            </a:pPr>
            <a:r>
              <a:rPr sz="1425" b="0">
                <a:solidFill>
                  <a:srgbClr val="6F6257"/>
                </a:solidFill>
              </a:rPr>
              <a:t>当前结果主要来自生成的小型验证集；大量快速诊断只用少量验证 batch，容易在极少 batch 上出现过拟合。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6F8C2DB-ACB1-4F1D-ABEE-F306767E181A}"/>
              </a:ext>
            </a:extLst>
          </p:cNvPr>
          <p:cNvSpPr>
            <a:spLocks noGrp="1"/>
          </p:cNvSpPr>
          <p:nvPr/>
        </p:nvSpPr>
        <p:spPr>
          <a:xfrm>
            <a:off x="6496050" y="4095750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EFE4D6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FA124C-020D-4968-8E0B-74D9CFBCA3D2}"/>
              </a:ext>
            </a:extLst>
          </p:cNvPr>
          <p:cNvSpPr>
            <a:spLocks noGrp="1"/>
          </p:cNvSpPr>
          <p:nvPr/>
        </p:nvSpPr>
        <p:spPr>
          <a:xfrm>
            <a:off x="6496050" y="4095750"/>
            <a:ext cx="57150" cy="1238250"/>
          </a:xfrm>
          <a:prstGeom prst="rect">
            <a:avLst/>
          </a:prstGeom>
          <a:solidFill>
            <a:srgbClr val="C96442"/>
          </a:solidFill>
          <a:ln w="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CADB065-C81D-4CC9-8037-8FCDDB015791}"/>
              </a:ext>
            </a:extLst>
          </p:cNvPr>
          <p:cNvSpPr>
            <a:spLocks noGrp="1"/>
          </p:cNvSpPr>
          <p:nvPr/>
        </p:nvSpPr>
        <p:spPr>
          <a:xfrm>
            <a:off x="6724650" y="430530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B2118"/>
                </a:solidFill>
              </a:defRPr>
            </a:pPr>
            <a:r>
              <a:rPr sz="1800" b="1">
                <a:solidFill>
                  <a:srgbClr val="2B2118"/>
                </a:solidFill>
              </a:rPr>
              <a:t>对导师的稳妥表述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5A9A15-9B2B-4490-A819-A048D5A5C558}"/>
              </a:ext>
            </a:extLst>
          </p:cNvPr>
          <p:cNvSpPr>
            <a:spLocks noGrp="1"/>
          </p:cNvSpPr>
          <p:nvPr/>
        </p:nvSpPr>
        <p:spPr>
          <a:xfrm>
            <a:off x="6724650" y="4743450"/>
            <a:ext cx="449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F6257"/>
                </a:solidFill>
              </a:defRPr>
            </a:pPr>
            <a:r>
              <a:rPr sz="1425" b="0">
                <a:solidFill>
                  <a:srgbClr val="6F6257"/>
                </a:solidFill>
              </a:rPr>
              <a:t>这些分数证明技术路线成立，但下一步需要在扩容数据集上重新验证稳定性和泛化。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8714804-EDB2-484B-9836-D5260C947E80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0328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96EC3CF1-EB12-4075-93DC-D68A9D72B6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F7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49C2D7-0486-43B4-8CF0-CD6417C7064A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C96442"/>
                </a:solidFill>
              </a:defRPr>
            </a:pPr>
            <a:r>
              <a:rPr sz="1125" b="1">
                <a:solidFill>
                  <a:srgbClr val="C96442"/>
                </a:solidFill>
              </a:rPr>
              <a:t>下一步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16E0E9-7890-4459-83CA-A87C3BF397F1}"/>
              </a:ext>
            </a:extLst>
          </p:cNvPr>
          <p:cNvSpPr>
            <a:spLocks noGrp="1"/>
          </p:cNvSpPr>
          <p:nvPr/>
        </p:nvSpPr>
        <p:spPr>
          <a:xfrm>
            <a:off x="514350" y="70485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B2118"/>
                </a:solidFill>
              </a:defRPr>
            </a:pPr>
            <a:r>
              <a:rPr sz="3150" b="1">
                <a:solidFill>
                  <a:srgbClr val="2B2118"/>
                </a:solidFill>
              </a:rPr>
              <a:t>下一阶段先扩大验证，再推进 38 类和真实域适配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E3398C8-01B5-4F05-9245-90F44735AD15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1809750" cy="2247900"/>
          </a:xfrm>
          <a:prstGeom prst="roundRect">
            <a:avLst>
              <a:gd name="adj" fmla="val 4211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D31900-9798-40EF-8FB6-B1466EB17A5C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28966D-CD4D-4975-894A-F242D083E37E}"/>
              </a:ext>
            </a:extLst>
          </p:cNvPr>
          <p:cNvSpPr>
            <a:spLocks noGrp="1"/>
          </p:cNvSpPr>
          <p:nvPr/>
        </p:nvSpPr>
        <p:spPr>
          <a:xfrm>
            <a:off x="857250" y="25336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扩容数据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6C56F-6F70-43F2-9247-922BE8AA331D}"/>
              </a:ext>
            </a:extLst>
          </p:cNvPr>
          <p:cNvSpPr>
            <a:spLocks noGrp="1"/>
          </p:cNvSpPr>
          <p:nvPr/>
        </p:nvSpPr>
        <p:spPr>
          <a:xfrm>
            <a:off x="857250" y="2895600"/>
            <a:ext cx="15049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目标约 5000 个合成场景，补齐可恢复生成。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1055480-42F6-4A02-9A31-98FFFD6CC32A}"/>
              </a:ext>
            </a:extLst>
          </p:cNvPr>
          <p:cNvSpPr>
            <a:spLocks noGrp="1"/>
          </p:cNvSpPr>
          <p:nvPr/>
        </p:nvSpPr>
        <p:spPr>
          <a:xfrm>
            <a:off x="2971800" y="2095500"/>
            <a:ext cx="1809750" cy="2247900"/>
          </a:xfrm>
          <a:prstGeom prst="roundRect">
            <a:avLst>
              <a:gd name="adj" fmla="val 4211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4BAB93-E9DE-4017-B887-AE8489DB742A}"/>
              </a:ext>
            </a:extLst>
          </p:cNvPr>
          <p:cNvSpPr>
            <a:spLocks noGrp="1"/>
          </p:cNvSpPr>
          <p:nvPr/>
        </p:nvSpPr>
        <p:spPr>
          <a:xfrm>
            <a:off x="3124200" y="2247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F3083B-7E66-42B4-932E-FF7B2A3796D7}"/>
              </a:ext>
            </a:extLst>
          </p:cNvPr>
          <p:cNvSpPr>
            <a:spLocks noGrp="1"/>
          </p:cNvSpPr>
          <p:nvPr/>
        </p:nvSpPr>
        <p:spPr>
          <a:xfrm>
            <a:off x="3124200" y="25336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统一评估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408332-8CD4-4045-8D44-77828A0B812E}"/>
              </a:ext>
            </a:extLst>
          </p:cNvPr>
          <p:cNvSpPr>
            <a:spLocks noGrp="1"/>
          </p:cNvSpPr>
          <p:nvPr/>
        </p:nvSpPr>
        <p:spPr>
          <a:xfrm>
            <a:off x="3124200" y="2895600"/>
            <a:ext cx="15049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同时输出 global mIoU 与 batch mean mIoU。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E23ADD7-C4A9-4709-B9C0-CBF99288741B}"/>
              </a:ext>
            </a:extLst>
          </p:cNvPr>
          <p:cNvSpPr>
            <a:spLocks noGrp="1"/>
          </p:cNvSpPr>
          <p:nvPr/>
        </p:nvSpPr>
        <p:spPr>
          <a:xfrm>
            <a:off x="5238750" y="2095500"/>
            <a:ext cx="1809750" cy="2247900"/>
          </a:xfrm>
          <a:prstGeom prst="roundRect">
            <a:avLst>
              <a:gd name="adj" fmla="val 4211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0B1C3E-DF30-4F26-8083-46B7A3705521}"/>
              </a:ext>
            </a:extLst>
          </p:cNvPr>
          <p:cNvSpPr>
            <a:spLocks noGrp="1"/>
          </p:cNvSpPr>
          <p:nvPr/>
        </p:nvSpPr>
        <p:spPr>
          <a:xfrm>
            <a:off x="5391150" y="2247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7301EC-A82E-4535-B89E-57B270B2E0F6}"/>
              </a:ext>
            </a:extLst>
          </p:cNvPr>
          <p:cNvSpPr>
            <a:spLocks noGrp="1"/>
          </p:cNvSpPr>
          <p:nvPr/>
        </p:nvSpPr>
        <p:spPr>
          <a:xfrm>
            <a:off x="5391150" y="25336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重验二分类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9B9EFF-6B68-4C96-BA6F-8206B77E4CB6}"/>
              </a:ext>
            </a:extLst>
          </p:cNvPr>
          <p:cNvSpPr>
            <a:spLocks noGrp="1"/>
          </p:cNvSpPr>
          <p:nvPr/>
        </p:nvSpPr>
        <p:spPr>
          <a:xfrm>
            <a:off x="5391150" y="2895600"/>
            <a:ext cx="15049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复验 Swin3D 与 PointMamba 的稳定性。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9FC7E32-95C9-4C73-BE34-89AA4F462231}"/>
              </a:ext>
            </a:extLst>
          </p:cNvPr>
          <p:cNvSpPr>
            <a:spLocks noGrp="1"/>
          </p:cNvSpPr>
          <p:nvPr/>
        </p:nvSpPr>
        <p:spPr>
          <a:xfrm>
            <a:off x="7505700" y="2095500"/>
            <a:ext cx="1809750" cy="2247900"/>
          </a:xfrm>
          <a:prstGeom prst="roundRect">
            <a:avLst>
              <a:gd name="adj" fmla="val 4211"/>
            </a:avLst>
          </a:prstGeom>
          <a:solidFill>
            <a:srgbClr val="F4EADF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B30430-3F6C-4A12-8AE3-76A4DAF8C3FB}"/>
              </a:ext>
            </a:extLst>
          </p:cNvPr>
          <p:cNvSpPr>
            <a:spLocks noGrp="1"/>
          </p:cNvSpPr>
          <p:nvPr/>
        </p:nvSpPr>
        <p:spPr>
          <a:xfrm>
            <a:off x="7658100" y="2247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F81D9B-14A9-412B-A61F-23DBF2CAFFF0}"/>
              </a:ext>
            </a:extLst>
          </p:cNvPr>
          <p:cNvSpPr>
            <a:spLocks noGrp="1"/>
          </p:cNvSpPr>
          <p:nvPr/>
        </p:nvSpPr>
        <p:spPr>
          <a:xfrm>
            <a:off x="7658100" y="25336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分阶段多类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191E22-7792-49A5-8CB5-C70CB4EC22A3}"/>
              </a:ext>
            </a:extLst>
          </p:cNvPr>
          <p:cNvSpPr>
            <a:spLocks noGrp="1"/>
          </p:cNvSpPr>
          <p:nvPr/>
        </p:nvSpPr>
        <p:spPr>
          <a:xfrm>
            <a:off x="7658100" y="2895600"/>
            <a:ext cx="15049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二分类 -&gt; 4/8 类 -&gt; 高频子类 -&gt; 38 类。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54CA819-8412-4576-8237-6659589DEDE1}"/>
              </a:ext>
            </a:extLst>
          </p:cNvPr>
          <p:cNvSpPr>
            <a:spLocks noGrp="1"/>
          </p:cNvSpPr>
          <p:nvPr/>
        </p:nvSpPr>
        <p:spPr>
          <a:xfrm>
            <a:off x="9772650" y="2095500"/>
            <a:ext cx="1809750" cy="2247900"/>
          </a:xfrm>
          <a:prstGeom prst="roundRect">
            <a:avLst>
              <a:gd name="adj" fmla="val 4211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C3266D-8034-42DD-A82A-3AE0E302D8F7}"/>
              </a:ext>
            </a:extLst>
          </p:cNvPr>
          <p:cNvSpPr>
            <a:spLocks noGrp="1"/>
          </p:cNvSpPr>
          <p:nvPr/>
        </p:nvSpPr>
        <p:spPr>
          <a:xfrm>
            <a:off x="9925050" y="22479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6442"/>
                </a:solidFill>
              </a:defRPr>
            </a:pPr>
            <a:r>
              <a:rPr sz="1050" b="1">
                <a:solidFill>
                  <a:srgbClr val="C96442"/>
                </a:solidFill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17FBB6-0DF7-4DB9-9A7C-2FC8D28CDDCC}"/>
              </a:ext>
            </a:extLst>
          </p:cNvPr>
          <p:cNvSpPr>
            <a:spLocks noGrp="1"/>
          </p:cNvSpPr>
          <p:nvPr/>
        </p:nvSpPr>
        <p:spPr>
          <a:xfrm>
            <a:off x="9925050" y="2533650"/>
            <a:ext cx="1504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B2118"/>
                </a:solidFill>
              </a:defRPr>
            </a:pPr>
            <a:r>
              <a:rPr sz="1575" b="1">
                <a:solidFill>
                  <a:srgbClr val="2B2118"/>
                </a:solidFill>
              </a:rPr>
              <a:t>接回 GAN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1F144F-AF4C-4581-A7BB-51643FA69BFA}"/>
              </a:ext>
            </a:extLst>
          </p:cNvPr>
          <p:cNvSpPr>
            <a:spLocks noGrp="1"/>
          </p:cNvSpPr>
          <p:nvPr/>
        </p:nvSpPr>
        <p:spPr>
          <a:xfrm>
            <a:off x="9925050" y="2895600"/>
            <a:ext cx="15049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F6257"/>
                </a:solidFill>
              </a:defRPr>
            </a:pPr>
            <a:r>
              <a:rPr sz="1125" b="0">
                <a:solidFill>
                  <a:srgbClr val="6F6257"/>
                </a:solidFill>
              </a:rPr>
              <a:t>在 baseline 稳定后做合成到真实风格适配。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9DB4055-287D-44EC-A8B0-BA045A20EA87}"/>
              </a:ext>
            </a:extLst>
          </p:cNvPr>
          <p:cNvSpPr>
            <a:spLocks noGrp="1"/>
          </p:cNvSpPr>
          <p:nvPr/>
        </p:nvSpPr>
        <p:spPr>
          <a:xfrm>
            <a:off x="971550" y="5200650"/>
            <a:ext cx="10077450" cy="666750"/>
          </a:xfrm>
          <a:prstGeom prst="roundRect">
            <a:avLst>
              <a:gd name="adj" fmla="val 11429"/>
            </a:avLst>
          </a:prstGeom>
          <a:solidFill>
            <a:srgbClr val="FBF8F2"/>
          </a:solidFill>
          <a:ln w="9525">
            <a:solidFill>
              <a:srgbClr val="D8C7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C8BD93-BF49-4F8A-AD28-6ABAA22D06F2}"/>
              </a:ext>
            </a:extLst>
          </p:cNvPr>
          <p:cNvSpPr>
            <a:spLocks noGrp="1"/>
          </p:cNvSpPr>
          <p:nvPr/>
        </p:nvSpPr>
        <p:spPr>
          <a:xfrm>
            <a:off x="1276350" y="54006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6442"/>
                </a:solidFill>
              </a:defRPr>
            </a:pPr>
            <a:r>
              <a:rPr sz="1500" b="1">
                <a:solidFill>
                  <a:srgbClr val="C96442"/>
                </a:solidFill>
              </a:rPr>
              <a:t>结论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506699-D13D-443B-AA3F-3514C00D055B}"/>
              </a:ext>
            </a:extLst>
          </p:cNvPr>
          <p:cNvSpPr>
            <a:spLocks noGrp="1"/>
          </p:cNvSpPr>
          <p:nvPr/>
        </p:nvSpPr>
        <p:spPr>
          <a:xfrm>
            <a:off x="2152650" y="53625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2B2118"/>
                </a:solidFill>
              </a:defRPr>
            </a:pPr>
            <a:r>
              <a:rPr sz="1650" b="0">
                <a:solidFill>
                  <a:srgbClr val="2B2118"/>
                </a:solidFill>
              </a:rPr>
              <a:t>这不是推翻重来，而是沿着已经验证的主线，把数据规模、评估口径和多类别迁移补稳。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AD639A-959F-422C-9EB5-873D676EFD0D}"/>
              </a:ext>
            </a:extLst>
          </p:cNvPr>
          <p:cNvSpPr>
            <a:spLocks noGrp="1"/>
          </p:cNvSpPr>
          <p:nvPr/>
        </p:nvSpPr>
        <p:spPr>
          <a:xfrm>
            <a:off x="11239500" y="63055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F6257"/>
                </a:solidFill>
              </a:defRPr>
            </a:pPr>
            <a:r>
              <a:rPr sz="1050" b="0">
                <a:solidFill>
                  <a:srgbClr val="6F625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06826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DocSecurity>0</DocSecurity>
  <PresentationFormat>宽屏</PresentationFormat>
  <Paragraphs>158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星空 九条</cp:lastModifiedBy>
  <cp:revision>1</cp:revision>
  <dcterms:created xsi:type="dcterms:W3CDTF">2026-07-04T14:54:19Z</dcterms:created>
  <dcterms:modified xsi:type="dcterms:W3CDTF">2026-07-04T15:08:48Z</dcterms:modified>
</cp:coreProperties>
</file>