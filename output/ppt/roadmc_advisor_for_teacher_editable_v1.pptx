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开场先讲定位：RoadMC 不是一个单独分割模型，而是围绕路面病害点云任务建立“生成、训练、评估”的闭环。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这一页只做问题框定。重点是说明真实点云监督成本、病害稀疏和长尾类别会直接决定路线设计。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这页把生成模块提升为方法本体。强调生成不是临时造数据，而是控制几何、标签和监督上限。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讲清楚点云如何生成：路面形貌、病害原语、传感器观测，最后输出可训练的 npz 样本。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解释为什么先做二分类。它不是放弃 38 类，而是先稳定前景边界，再迁移到更细粒度类别。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主动讲证据边界。当前结果能证明路线可行，但仍基于合成小型测试集，不能包装成最终泛化结论。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 和 end2end 要定位为未来真实域适配接口，不要把它们说成当前主结果。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这页主动暴露风险，便于导师判断下一步验证优先级。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收尾用两个路线选择引导讨论：论文路线与展示路线。请导师判断优先推进哪一种。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A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200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601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12801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16002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9202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2402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25603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28803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32004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35204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38404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1605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4805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8006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51206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54406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7607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60807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64008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67208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56032" y="228600"/>
            <a:ext cx="11686032" cy="6400800"/>
          </a:xfrm>
          <a:prstGeom prst="rect">
            <a:avLst/>
          </a:prstGeom>
          <a:solidFill>
            <a:srgbClr val="F5EADC">
              <a:alpha val="0"/>
            </a:srgbClr>
          </a:solidFill>
          <a:ln w="7620">
            <a:solidFill>
              <a:srgbClr val="E3D2C1">
                <a:alpha val="9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771632" y="6400800"/>
            <a:ext cx="548640" cy="0"/>
          </a:xfrm>
          <a:prstGeom prst="line">
            <a:avLst/>
          </a:prstGeom>
          <a:noFill/>
          <a:ln w="10160">
            <a:solidFill>
              <a:srgbClr val="C8AD96">
                <a:alpha val="94000"/>
              </a:srgbClr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1475720" y="63185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8675B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01</a:t>
            </a:r>
            <a:endParaRPr lang="en-US" sz="750" dirty="0"/>
          </a:p>
        </p:txBody>
      </p:sp>
      <p:sp>
        <p:nvSpPr>
          <p:cNvPr id="66" name="Text 64"/>
          <p:cNvSpPr txBox="1"/>
          <p:nvPr/>
        </p:nvSpPr>
        <p:spPr>
          <a:xfrm>
            <a:off x="713232" y="5760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MENTOR RESEARCH BRIEFING / 2026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713232" y="157276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0" b="1" dirty="0">
                <a:solidFill>
                  <a:srgbClr val="211915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RoadMC</a:t>
            </a:r>
            <a:endParaRPr lang="en-US" sz="7800" dirty="0"/>
          </a:p>
        </p:txBody>
      </p:sp>
      <p:sp>
        <p:nvSpPr>
          <p:cNvPr id="68" name="Text 66"/>
          <p:cNvSpPr txBox="1"/>
          <p:nvPr/>
        </p:nvSpPr>
        <p:spPr>
          <a:xfrm>
            <a:off x="713232" y="2487168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B2C2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物理仿真点云生成与路面病害分割训练闭环</a:t>
            </a:r>
            <a:endParaRPr lang="en-US" sz="2100" dirty="0"/>
          </a:p>
        </p:txBody>
      </p:sp>
      <p:sp>
        <p:nvSpPr>
          <p:cNvPr id="69" name="Text 67"/>
          <p:cNvSpPr txBox="1"/>
          <p:nvPr/>
        </p:nvSpPr>
        <p:spPr>
          <a:xfrm>
            <a:off x="713232" y="5413248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1191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核心不是单个网络，而是一套从可控数据生成到病害分割训练、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21191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再到评估校准的研究闭环。</a:t>
            </a:r>
            <a:endParaRPr lang="en-US" sz="1700" dirty="0"/>
          </a:p>
        </p:txBody>
      </p:sp>
      <p:sp>
        <p:nvSpPr>
          <p:cNvPr id="70" name="Shape 68"/>
          <p:cNvSpPr/>
          <p:nvPr/>
        </p:nvSpPr>
        <p:spPr>
          <a:xfrm>
            <a:off x="7863840" y="978408"/>
            <a:ext cx="3611880" cy="0"/>
          </a:xfrm>
          <a:prstGeom prst="line">
            <a:avLst/>
          </a:prstGeom>
          <a:noFill/>
          <a:ln w="16510">
            <a:solidFill>
              <a:srgbClr val="211915">
                <a:alpha val="96000"/>
              </a:srgbClr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863840" y="11704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这次汇报要回答的问题</a:t>
            </a:r>
            <a:endParaRPr lang="en-US" sz="1650" dirty="0"/>
          </a:p>
        </p:txBody>
      </p:sp>
      <p:sp>
        <p:nvSpPr>
          <p:cNvPr id="72" name="Shape 70"/>
          <p:cNvSpPr/>
          <p:nvPr/>
        </p:nvSpPr>
        <p:spPr>
          <a:xfrm>
            <a:off x="7863840" y="1664208"/>
            <a:ext cx="3611880" cy="0"/>
          </a:xfrm>
          <a:prstGeom prst="line">
            <a:avLst/>
          </a:prstGeom>
          <a:noFill/>
          <a:ln w="6985">
            <a:solidFill>
              <a:srgbClr val="C8AD96">
                <a:alpha val="96000"/>
              </a:srgbClr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863840" y="175564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01</a:t>
            </a:r>
            <a:endParaRPr lang="en-US" sz="900" dirty="0"/>
          </a:p>
        </p:txBody>
      </p:sp>
      <p:sp>
        <p:nvSpPr>
          <p:cNvPr id="74" name="Text 72"/>
          <p:cNvSpPr txBox="1"/>
          <p:nvPr/>
        </p:nvSpPr>
        <p:spPr>
          <a:xfrm>
            <a:off x="8339328" y="1728216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191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监督数据从哪里来</a:t>
            </a:r>
            <a:endParaRPr lang="en-US" sz="1500" dirty="0"/>
          </a:p>
        </p:txBody>
      </p:sp>
      <p:sp>
        <p:nvSpPr>
          <p:cNvPr id="75" name="Shape 73"/>
          <p:cNvSpPr/>
          <p:nvPr/>
        </p:nvSpPr>
        <p:spPr>
          <a:xfrm>
            <a:off x="7863840" y="2231136"/>
            <a:ext cx="3611880" cy="0"/>
          </a:xfrm>
          <a:prstGeom prst="line">
            <a:avLst/>
          </a:prstGeom>
          <a:noFill/>
          <a:ln w="6985">
            <a:solidFill>
              <a:srgbClr val="C8AD96">
                <a:alpha val="96000"/>
              </a:srgbClr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863840" y="232257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02</a:t>
            </a:r>
            <a:endParaRPr lang="en-US" sz="900" dirty="0"/>
          </a:p>
        </p:txBody>
      </p:sp>
      <p:sp>
        <p:nvSpPr>
          <p:cNvPr id="77" name="Text 75"/>
          <p:cNvSpPr txBox="1"/>
          <p:nvPr/>
        </p:nvSpPr>
        <p:spPr>
          <a:xfrm>
            <a:off x="8339328" y="2295144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191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模型路线怎样稳定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>
            <a:off x="7863840" y="2798064"/>
            <a:ext cx="3611880" cy="0"/>
          </a:xfrm>
          <a:prstGeom prst="line">
            <a:avLst/>
          </a:prstGeom>
          <a:noFill/>
          <a:ln w="6985">
            <a:solidFill>
              <a:srgbClr val="C8AD96">
                <a:alpha val="96000"/>
              </a:srgbClr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7863840" y="288950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03</a:t>
            </a:r>
            <a:endParaRPr lang="en-US" sz="900" dirty="0"/>
          </a:p>
        </p:txBody>
      </p:sp>
      <p:sp>
        <p:nvSpPr>
          <p:cNvPr id="80" name="Text 78"/>
          <p:cNvSpPr txBox="1"/>
          <p:nvPr/>
        </p:nvSpPr>
        <p:spPr>
          <a:xfrm>
            <a:off x="8339328" y="2862072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191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结果边界如何解释</a:t>
            </a:r>
            <a:endParaRPr lang="en-US" sz="1500" dirty="0"/>
          </a:p>
        </p:txBody>
      </p:sp>
      <p:sp>
        <p:nvSpPr>
          <p:cNvPr id="81" name="Shape 79"/>
          <p:cNvSpPr/>
          <p:nvPr/>
        </p:nvSpPr>
        <p:spPr>
          <a:xfrm>
            <a:off x="7863840" y="3364992"/>
            <a:ext cx="3611880" cy="0"/>
          </a:xfrm>
          <a:prstGeom prst="line">
            <a:avLst/>
          </a:prstGeom>
          <a:noFill/>
          <a:ln w="6985">
            <a:solidFill>
              <a:srgbClr val="C8AD96">
                <a:alpha val="96000"/>
              </a:srgbClr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7863840" y="345643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04</a:t>
            </a:r>
            <a:endParaRPr lang="en-US" sz="900" dirty="0"/>
          </a:p>
        </p:txBody>
      </p:sp>
      <p:sp>
        <p:nvSpPr>
          <p:cNvPr id="83" name="Text 81"/>
          <p:cNvSpPr txBox="1"/>
          <p:nvPr/>
        </p:nvSpPr>
        <p:spPr>
          <a:xfrm>
            <a:off x="8339328" y="3429000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191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下一步验证怎么做</a:t>
            </a:r>
            <a:endParaRPr lang="en-US" sz="1500" dirty="0"/>
          </a:p>
        </p:txBody>
      </p:sp>
      <p:sp>
        <p:nvSpPr>
          <p:cNvPr id="84" name="Shape 82"/>
          <p:cNvSpPr/>
          <p:nvPr/>
        </p:nvSpPr>
        <p:spPr>
          <a:xfrm>
            <a:off x="8275320" y="5230368"/>
            <a:ext cx="3108960" cy="0"/>
          </a:xfrm>
          <a:prstGeom prst="line">
            <a:avLst/>
          </a:prstGeom>
          <a:noFill/>
          <a:ln w="6985">
            <a:solidFill>
              <a:srgbClr val="C8AD96">
                <a:alpha val="96000"/>
              </a:srgbClr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8275320" y="537667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78675B"/>
                </a:solidFill>
                <a:latin typeface="Tiempos Text" pitchFamily="34" charset="0"/>
                <a:ea typeface="Tiempos Text" pitchFamily="34" charset="-122"/>
                <a:cs typeface="Tiempos Text" pitchFamily="34" charset="-120"/>
              </a:rPr>
              <a:t>Synthesis is treated as a first-class method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78675B"/>
                </a:solidFill>
                <a:latin typeface="Tiempos Text" pitchFamily="34" charset="0"/>
                <a:ea typeface="Tiempos Text" pitchFamily="34" charset="-122"/>
                <a:cs typeface="Tiempos Text" pitchFamily="34" charset="-120"/>
              </a:rPr>
              <a:t>component, not a disposable preprocessing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78675B"/>
                </a:solidFill>
                <a:latin typeface="Tiempos Text" pitchFamily="34" charset="0"/>
                <a:ea typeface="Tiempos Text" pitchFamily="34" charset="-122"/>
                <a:cs typeface="Tiempos Text" pitchFamily="34" charset="-120"/>
              </a:rPr>
              <a:t>step.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A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200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601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12801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16002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9202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2402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25603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28803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32004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35204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38404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1605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4805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8006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51206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54406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7607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60807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64008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67208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56032" y="228600"/>
            <a:ext cx="11686032" cy="6400800"/>
          </a:xfrm>
          <a:prstGeom prst="rect">
            <a:avLst/>
          </a:prstGeom>
          <a:solidFill>
            <a:srgbClr val="F5EADC">
              <a:alpha val="0"/>
            </a:srgbClr>
          </a:solidFill>
          <a:ln w="7620">
            <a:solidFill>
              <a:srgbClr val="E3D2C1">
                <a:alpha val="9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771632" y="6400800"/>
            <a:ext cx="548640" cy="0"/>
          </a:xfrm>
          <a:prstGeom prst="line">
            <a:avLst/>
          </a:prstGeom>
          <a:noFill/>
          <a:ln w="10160">
            <a:solidFill>
              <a:srgbClr val="C8AD96">
                <a:alpha val="94000"/>
              </a:srgbClr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1475720" y="63185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8675B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02</a:t>
            </a:r>
            <a:endParaRPr lang="en-US" sz="750" dirty="0"/>
          </a:p>
        </p:txBody>
      </p:sp>
      <p:sp>
        <p:nvSpPr>
          <p:cNvPr id="66" name="Text 64"/>
          <p:cNvSpPr txBox="1"/>
          <p:nvPr/>
        </p:nvSpPr>
        <p:spPr>
          <a:xfrm>
            <a:off x="713232" y="5029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02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1234440" y="5120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PROBLEM FRAMING</a:t>
            </a:r>
            <a:endParaRPr lang="en-US" sz="960" dirty="0"/>
          </a:p>
        </p:txBody>
      </p:sp>
      <p:sp>
        <p:nvSpPr>
          <p:cNvPr id="68" name="Shape 66"/>
          <p:cNvSpPr/>
          <p:nvPr/>
        </p:nvSpPr>
        <p:spPr>
          <a:xfrm>
            <a:off x="1234440" y="649224"/>
            <a:ext cx="3566160" cy="0"/>
          </a:xfrm>
          <a:prstGeom prst="line">
            <a:avLst/>
          </a:prstGeom>
          <a:noFill/>
          <a:ln w="6985">
            <a:solidFill>
              <a:srgbClr val="C8AD96">
                <a:alpha val="90000"/>
              </a:srgbClr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13232" y="877824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直接训练路面病害点云模型，很容易卡在数据和长尾上</a:t>
            </a:r>
            <a:endParaRPr lang="en-US" sz="2600" dirty="0"/>
          </a:p>
        </p:txBody>
      </p:sp>
      <p:sp>
        <p:nvSpPr>
          <p:cNvPr id="70" name="Text 68"/>
          <p:cNvSpPr txBox="1"/>
          <p:nvPr/>
        </p:nvSpPr>
        <p:spPr>
          <a:xfrm>
            <a:off x="713232" y="1664208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如果直接从真实点云训练 38 类病害分割，最早遇到的通常不是网络结构上限，而是监督数据、标签成本和类别分布共同造成的不稳定。</a:t>
            </a:r>
            <a:endParaRPr lang="en-US" sz="1450" dirty="0"/>
          </a:p>
        </p:txBody>
      </p:sp>
      <p:sp>
        <p:nvSpPr>
          <p:cNvPr id="71" name="Shape 69"/>
          <p:cNvSpPr/>
          <p:nvPr/>
        </p:nvSpPr>
        <p:spPr>
          <a:xfrm>
            <a:off x="713232" y="2788920"/>
            <a:ext cx="2148840" cy="0"/>
          </a:xfrm>
          <a:prstGeom prst="line">
            <a:avLst/>
          </a:prstGeom>
          <a:noFill/>
          <a:ln w="13335">
            <a:solidFill>
              <a:srgbClr val="211915">
                <a:alpha val="96000"/>
              </a:srgbClr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13232" y="29718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A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713232" y="34564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真实采集贵</a:t>
            </a:r>
            <a:endParaRPr lang="en-US" sz="1900" dirty="0"/>
          </a:p>
        </p:txBody>
      </p:sp>
      <p:sp>
        <p:nvSpPr>
          <p:cNvPr id="74" name="Text 72"/>
          <p:cNvSpPr txBox="1"/>
          <p:nvPr/>
        </p:nvSpPr>
        <p:spPr>
          <a:xfrm>
            <a:off x="713232" y="400507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点云采集、清洗和逐点标注成本高，早期很难快速形成可控监督。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3044952" y="3200400"/>
            <a:ext cx="960120" cy="0"/>
          </a:xfrm>
          <a:prstGeom prst="line">
            <a:avLst/>
          </a:prstGeom>
          <a:noFill/>
          <a:ln w="15240">
            <a:solidFill>
              <a:srgbClr val="DC8B67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4370832" y="2788920"/>
            <a:ext cx="2148840" cy="0"/>
          </a:xfrm>
          <a:prstGeom prst="line">
            <a:avLst/>
          </a:prstGeom>
          <a:noFill/>
          <a:ln w="13335">
            <a:solidFill>
              <a:srgbClr val="C8AD96">
                <a:alpha val="96000"/>
              </a:srgbClr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4370832" y="29718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B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4370832" y="34564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病害目标稀疏</a:t>
            </a:r>
            <a:endParaRPr lang="en-US" sz="1900" dirty="0"/>
          </a:p>
        </p:txBody>
      </p:sp>
      <p:sp>
        <p:nvSpPr>
          <p:cNvPr id="79" name="Text 77"/>
          <p:cNvSpPr txBox="1"/>
          <p:nvPr/>
        </p:nvSpPr>
        <p:spPr>
          <a:xfrm>
            <a:off x="4370832" y="400507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裂缝、剥落、坑槽等点占比低，模型容易偏向预测背景。</a:t>
            </a:r>
            <a:endParaRPr lang="en-US" sz="1250" dirty="0"/>
          </a:p>
        </p:txBody>
      </p:sp>
      <p:sp>
        <p:nvSpPr>
          <p:cNvPr id="80" name="Shape 78"/>
          <p:cNvSpPr/>
          <p:nvPr/>
        </p:nvSpPr>
        <p:spPr>
          <a:xfrm>
            <a:off x="6702552" y="3200400"/>
            <a:ext cx="960120" cy="0"/>
          </a:xfrm>
          <a:prstGeom prst="line">
            <a:avLst/>
          </a:prstGeom>
          <a:noFill/>
          <a:ln w="15240">
            <a:solidFill>
              <a:srgbClr val="DC8B67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8028432" y="2788920"/>
            <a:ext cx="2148840" cy="0"/>
          </a:xfrm>
          <a:prstGeom prst="line">
            <a:avLst/>
          </a:prstGeom>
          <a:noFill/>
          <a:ln w="13335">
            <a:solidFill>
              <a:srgbClr val="C8AD96">
                <a:alpha val="96000"/>
              </a:srgbClr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8028432" y="29718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C</a:t>
            </a:r>
            <a:endParaRPr lang="en-US" sz="1000" dirty="0"/>
          </a:p>
        </p:txBody>
      </p:sp>
      <p:sp>
        <p:nvSpPr>
          <p:cNvPr id="83" name="Text 81"/>
          <p:cNvSpPr txBox="1"/>
          <p:nvPr/>
        </p:nvSpPr>
        <p:spPr>
          <a:xfrm>
            <a:off x="8028432" y="34564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38 类长尾明显</a:t>
            </a:r>
            <a:endParaRPr lang="en-US" sz="1900" dirty="0"/>
          </a:p>
        </p:txBody>
      </p:sp>
      <p:sp>
        <p:nvSpPr>
          <p:cNvPr id="84" name="Text 82"/>
          <p:cNvSpPr txBox="1"/>
          <p:nvPr/>
        </p:nvSpPr>
        <p:spPr>
          <a:xfrm>
            <a:off x="8028432" y="400507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少数类别样本不足时，冷启动多分类训练容易塌缩。</a:t>
            </a:r>
            <a:endParaRPr lang="en-US" sz="1250" dirty="0"/>
          </a:p>
        </p:txBody>
      </p:sp>
      <p:sp>
        <p:nvSpPr>
          <p:cNvPr id="85" name="Shape 83"/>
          <p:cNvSpPr/>
          <p:nvPr/>
        </p:nvSpPr>
        <p:spPr>
          <a:xfrm>
            <a:off x="713232" y="5687568"/>
            <a:ext cx="9235440" cy="0"/>
          </a:xfrm>
          <a:prstGeom prst="line">
            <a:avLst/>
          </a:prstGeom>
          <a:noFill/>
          <a:ln w="8890">
            <a:solidFill>
              <a:srgbClr val="C8AD96">
                <a:alpha val="96000"/>
              </a:srgbClr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713232" y="58704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47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讲法</a:t>
            </a:r>
            <a:endParaRPr lang="en-US" sz="1100" dirty="0"/>
          </a:p>
        </p:txBody>
      </p:sp>
      <p:sp>
        <p:nvSpPr>
          <p:cNvPr id="87" name="Text 85"/>
          <p:cNvSpPr txBox="1"/>
          <p:nvPr/>
        </p:nvSpPr>
        <p:spPr>
          <a:xfrm>
            <a:off x="1572768" y="584301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21191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RoadMC 的价值不只是换网络，而是先把“可控监督”和“稳定训练路线”建立起来。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A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200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601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12801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16002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9202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2402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25603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28803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32004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35204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38404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1605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4805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8006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51206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54406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7607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60807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64008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67208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56032" y="228600"/>
            <a:ext cx="11686032" cy="6400800"/>
          </a:xfrm>
          <a:prstGeom prst="rect">
            <a:avLst/>
          </a:prstGeom>
          <a:solidFill>
            <a:srgbClr val="F5EADC">
              <a:alpha val="0"/>
            </a:srgbClr>
          </a:solidFill>
          <a:ln w="7620">
            <a:solidFill>
              <a:srgbClr val="E3D2C1">
                <a:alpha val="9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771632" y="6400800"/>
            <a:ext cx="548640" cy="0"/>
          </a:xfrm>
          <a:prstGeom prst="line">
            <a:avLst/>
          </a:prstGeom>
          <a:noFill/>
          <a:ln w="10160">
            <a:solidFill>
              <a:srgbClr val="C8AD96">
                <a:alpha val="94000"/>
              </a:srgbClr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1475720" y="63185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8675B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03</a:t>
            </a:r>
            <a:endParaRPr lang="en-US" sz="750" dirty="0"/>
          </a:p>
        </p:txBody>
      </p:sp>
      <p:sp>
        <p:nvSpPr>
          <p:cNvPr id="66" name="Text 64"/>
          <p:cNvSpPr txBox="1"/>
          <p:nvPr/>
        </p:nvSpPr>
        <p:spPr>
          <a:xfrm>
            <a:off x="713232" y="5029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03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1234440" y="5120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METHOD POSITIONING</a:t>
            </a:r>
            <a:endParaRPr lang="en-US" sz="960" dirty="0"/>
          </a:p>
        </p:txBody>
      </p:sp>
      <p:sp>
        <p:nvSpPr>
          <p:cNvPr id="68" name="Shape 66"/>
          <p:cNvSpPr/>
          <p:nvPr/>
        </p:nvSpPr>
        <p:spPr>
          <a:xfrm>
            <a:off x="1234440" y="649224"/>
            <a:ext cx="3566160" cy="0"/>
          </a:xfrm>
          <a:prstGeom prst="line">
            <a:avLst/>
          </a:prstGeom>
          <a:noFill/>
          <a:ln w="6985">
            <a:solidFill>
              <a:srgbClr val="C8AD96">
                <a:alpha val="90000"/>
              </a:srgbClr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13232" y="877824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把点云生成提升为方法的一半，再用训练结果反向校准生成</a:t>
            </a:r>
            <a:endParaRPr lang="en-US" sz="2800" dirty="0"/>
          </a:p>
        </p:txBody>
      </p:sp>
      <p:sp>
        <p:nvSpPr>
          <p:cNvPr id="70" name="Shape 68"/>
          <p:cNvSpPr/>
          <p:nvPr/>
        </p:nvSpPr>
        <p:spPr>
          <a:xfrm>
            <a:off x="804672" y="2304288"/>
            <a:ext cx="3337560" cy="2331720"/>
          </a:xfrm>
          <a:prstGeom prst="rect">
            <a:avLst/>
          </a:prstGeom>
          <a:solidFill>
            <a:srgbClr val="FBF6EE">
              <a:alpha val="86000"/>
            </a:srgbClr>
          </a:solidFill>
          <a:ln w="8255">
            <a:solidFill>
              <a:srgbClr val="E3D2C1">
                <a:alpha val="94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04672" y="2304288"/>
            <a:ext cx="0" cy="2331720"/>
          </a:xfrm>
          <a:prstGeom prst="line">
            <a:avLst/>
          </a:prstGeom>
          <a:noFill/>
          <a:ln w="38100">
            <a:solidFill>
              <a:srgbClr val="A9472C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87552" y="2523744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生成不是临时造数据，</a:t>
            </a:r>
            <a:endParaRPr lang="en-US" sz="2050" dirty="0"/>
          </a:p>
          <a:p>
            <a:pPr algn="l" indent="0" marL="0">
              <a:buNone/>
            </a:pPr>
            <a:r>
              <a:rPr lang="en-US" sz="205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而是在定义监督空间。</a:t>
            </a:r>
            <a:endParaRPr lang="en-US" sz="2050" dirty="0"/>
          </a:p>
        </p:txBody>
      </p:sp>
      <p:sp>
        <p:nvSpPr>
          <p:cNvPr id="73" name="Text 71"/>
          <p:cNvSpPr txBox="1"/>
          <p:nvPr/>
        </p:nvSpPr>
        <p:spPr>
          <a:xfrm>
            <a:off x="987552" y="3456432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B2C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生成模块决定几何形态、标签分布、噪声结构和训练可见的病害边界；训练模块验证这些监督是否真的能被模型学到。</a:t>
            </a:r>
            <a:endParaRPr lang="en-US" sz="1350" dirty="0"/>
          </a:p>
        </p:txBody>
      </p:sp>
      <p:sp>
        <p:nvSpPr>
          <p:cNvPr id="74" name="Shape 72"/>
          <p:cNvSpPr/>
          <p:nvPr/>
        </p:nvSpPr>
        <p:spPr>
          <a:xfrm>
            <a:off x="5650992" y="1874520"/>
            <a:ext cx="2907792" cy="2907792"/>
          </a:xfrm>
          <a:prstGeom prst="rect">
            <a:avLst/>
          </a:prstGeom>
          <a:solidFill>
            <a:srgbClr val="F5EADC">
              <a:alpha val="0"/>
            </a:srgbClr>
          </a:solidFill>
          <a:ln w="8255">
            <a:solidFill>
              <a:srgbClr val="C8AD96">
                <a:alpha val="94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989320" y="2212848"/>
            <a:ext cx="2231136" cy="2231136"/>
          </a:xfrm>
          <a:prstGeom prst="rect">
            <a:avLst/>
          </a:prstGeom>
          <a:solidFill>
            <a:srgbClr val="F5EADC">
              <a:alpha val="0"/>
            </a:srgbClr>
          </a:solidFill>
          <a:ln w="8255">
            <a:solidFill>
              <a:srgbClr val="A9472C">
                <a:alpha val="4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73952" y="2697480"/>
            <a:ext cx="1261872" cy="1261872"/>
          </a:xfrm>
          <a:prstGeom prst="rect">
            <a:avLst/>
          </a:prstGeom>
          <a:solidFill>
            <a:srgbClr val="FBF6EE">
              <a:alpha val="94000"/>
            </a:srgbClr>
          </a:solidFill>
          <a:ln w="8255">
            <a:solidFill>
              <a:srgbClr val="E3D2C1">
                <a:alpha val="94000"/>
              </a:srgbClr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656832" y="29992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生成 / 训练 /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评估闭环</a:t>
            </a:r>
            <a:endParaRPr lang="en-US" sz="1350" dirty="0"/>
          </a:p>
        </p:txBody>
      </p:sp>
      <p:sp>
        <p:nvSpPr>
          <p:cNvPr id="78" name="Shape 76"/>
          <p:cNvSpPr/>
          <p:nvPr/>
        </p:nvSpPr>
        <p:spPr>
          <a:xfrm>
            <a:off x="4526280" y="1444752"/>
            <a:ext cx="1719072" cy="0"/>
          </a:xfrm>
          <a:prstGeom prst="line">
            <a:avLst/>
          </a:prstGeom>
          <a:noFill/>
          <a:ln w="13335">
            <a:solidFill>
              <a:srgbClr val="211915">
                <a:alpha val="96000"/>
              </a:srgbClr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4526280" y="159105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01</a:t>
            </a:r>
            <a:endParaRPr lang="en-US" sz="800" dirty="0"/>
          </a:p>
        </p:txBody>
      </p:sp>
      <p:sp>
        <p:nvSpPr>
          <p:cNvPr id="80" name="Text 78"/>
          <p:cNvSpPr txBox="1"/>
          <p:nvPr/>
        </p:nvSpPr>
        <p:spPr>
          <a:xfrm>
            <a:off x="4526280" y="18562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物理先验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4526280" y="215798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粗糙度、微纹理、路面形貌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8732520" y="1444752"/>
            <a:ext cx="1719072" cy="0"/>
          </a:xfrm>
          <a:prstGeom prst="line">
            <a:avLst/>
          </a:prstGeom>
          <a:noFill/>
          <a:ln w="13335">
            <a:solidFill>
              <a:srgbClr val="211915">
                <a:alpha val="96000"/>
              </a:srgbClr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8732520" y="159105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02</a:t>
            </a:r>
            <a:endParaRPr lang="en-US" sz="800" dirty="0"/>
          </a:p>
        </p:txBody>
      </p:sp>
      <p:sp>
        <p:nvSpPr>
          <p:cNvPr id="84" name="Text 82"/>
          <p:cNvSpPr txBox="1"/>
          <p:nvPr/>
        </p:nvSpPr>
        <p:spPr>
          <a:xfrm>
            <a:off x="8732520" y="18562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病害几何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8732520" y="215798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裂缝、坑槽、车辙、剥落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8732520" y="4800600"/>
            <a:ext cx="1719072" cy="0"/>
          </a:xfrm>
          <a:prstGeom prst="line">
            <a:avLst/>
          </a:prstGeom>
          <a:noFill/>
          <a:ln w="13335">
            <a:solidFill>
              <a:srgbClr val="211915">
                <a:alpha val="96000"/>
              </a:srgbClr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8732520" y="494690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03</a:t>
            </a:r>
            <a:endParaRPr lang="en-US" sz="800" dirty="0"/>
          </a:p>
        </p:txBody>
      </p:sp>
      <p:sp>
        <p:nvSpPr>
          <p:cNvPr id="88" name="Text 86"/>
          <p:cNvSpPr txBox="1"/>
          <p:nvPr/>
        </p:nvSpPr>
        <p:spPr>
          <a:xfrm>
            <a:off x="8732520" y="5212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分割训练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8732520" y="55138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Swin3D / mHC / binary first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4526280" y="4800600"/>
            <a:ext cx="1719072" cy="0"/>
          </a:xfrm>
          <a:prstGeom prst="line">
            <a:avLst/>
          </a:prstGeom>
          <a:noFill/>
          <a:ln w="13335">
            <a:solidFill>
              <a:srgbClr val="211915">
                <a:alpha val="96000"/>
              </a:srgbClr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4526280" y="494690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04</a:t>
            </a:r>
            <a:endParaRPr lang="en-US" sz="800" dirty="0"/>
          </a:p>
        </p:txBody>
      </p:sp>
      <p:sp>
        <p:nvSpPr>
          <p:cNvPr id="92" name="Text 90"/>
          <p:cNvSpPr txBox="1"/>
          <p:nvPr/>
        </p:nvSpPr>
        <p:spPr>
          <a:xfrm>
            <a:off x="4526280" y="5212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评估校准</a:t>
            </a:r>
            <a:endParaRPr lang="en-US" sz="1400" dirty="0"/>
          </a:p>
        </p:txBody>
      </p:sp>
      <p:sp>
        <p:nvSpPr>
          <p:cNvPr id="93" name="Text 91"/>
          <p:cNvSpPr txBox="1"/>
          <p:nvPr/>
        </p:nvSpPr>
        <p:spPr>
          <a:xfrm>
            <a:off x="4526280" y="55138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mIoU、阈值、误差回看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A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200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601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12801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16002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9202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2402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25603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28803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32004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35204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38404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1605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4805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8006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51206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54406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7607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60807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64008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67208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56032" y="228600"/>
            <a:ext cx="11686032" cy="6400800"/>
          </a:xfrm>
          <a:prstGeom prst="rect">
            <a:avLst/>
          </a:prstGeom>
          <a:solidFill>
            <a:srgbClr val="F5EADC">
              <a:alpha val="0"/>
            </a:srgbClr>
          </a:solidFill>
          <a:ln w="7620">
            <a:solidFill>
              <a:srgbClr val="E3D2C1">
                <a:alpha val="9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771632" y="6400800"/>
            <a:ext cx="548640" cy="0"/>
          </a:xfrm>
          <a:prstGeom prst="line">
            <a:avLst/>
          </a:prstGeom>
          <a:noFill/>
          <a:ln w="10160">
            <a:solidFill>
              <a:srgbClr val="C8AD96">
                <a:alpha val="94000"/>
              </a:srgbClr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1475720" y="63185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8675B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04</a:t>
            </a:r>
            <a:endParaRPr lang="en-US" sz="750" dirty="0"/>
          </a:p>
        </p:txBody>
      </p:sp>
      <p:sp>
        <p:nvSpPr>
          <p:cNvPr id="66" name="Text 64"/>
          <p:cNvSpPr txBox="1"/>
          <p:nvPr/>
        </p:nvSpPr>
        <p:spPr>
          <a:xfrm>
            <a:off x="713232" y="5029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04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1234440" y="5120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POINT CLOUD SYNTHESIS</a:t>
            </a:r>
            <a:endParaRPr lang="en-US" sz="960" dirty="0"/>
          </a:p>
        </p:txBody>
      </p:sp>
      <p:sp>
        <p:nvSpPr>
          <p:cNvPr id="68" name="Shape 66"/>
          <p:cNvSpPr/>
          <p:nvPr/>
        </p:nvSpPr>
        <p:spPr>
          <a:xfrm>
            <a:off x="1234440" y="649224"/>
            <a:ext cx="3566160" cy="0"/>
          </a:xfrm>
          <a:prstGeom prst="line">
            <a:avLst/>
          </a:prstGeom>
          <a:noFill/>
          <a:ln w="6985">
            <a:solidFill>
              <a:srgbClr val="C8AD96">
                <a:alpha val="90000"/>
              </a:srgbClr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13232" y="877824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合成点云来自一条物理和几何流水线，不是随机造点</a:t>
            </a:r>
            <a:endParaRPr lang="en-US" sz="3400" dirty="0"/>
          </a:p>
        </p:txBody>
      </p:sp>
      <p:sp>
        <p:nvSpPr>
          <p:cNvPr id="70" name="Text 68"/>
          <p:cNvSpPr txBox="1"/>
          <p:nvPr/>
        </p:nvSpPr>
        <p:spPr>
          <a:xfrm>
            <a:off x="713232" y="208483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生成流程按“路面形貌、病害形变、传感器观测”组织，最后输出带逐点标签的训练样本。</a:t>
            </a:r>
            <a:endParaRPr lang="en-US" sz="1450" dirty="0"/>
          </a:p>
        </p:txBody>
      </p:sp>
      <p:sp>
        <p:nvSpPr>
          <p:cNvPr id="71" name="Shape 69"/>
          <p:cNvSpPr/>
          <p:nvPr/>
        </p:nvSpPr>
        <p:spPr>
          <a:xfrm>
            <a:off x="713232" y="2816352"/>
            <a:ext cx="6949440" cy="0"/>
          </a:xfrm>
          <a:prstGeom prst="line">
            <a:avLst/>
          </a:prstGeom>
          <a:noFill/>
          <a:ln w="8255">
            <a:solidFill>
              <a:srgbClr val="C8AD96">
                <a:alpha val="96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13232" y="4059936"/>
            <a:ext cx="6949440" cy="0"/>
          </a:xfrm>
          <a:prstGeom prst="line">
            <a:avLst/>
          </a:prstGeom>
          <a:noFill/>
          <a:ln w="6985">
            <a:solidFill>
              <a:srgbClr val="C8AD96">
                <a:alpha val="96000"/>
              </a:srgbClr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13232" y="32735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01</a:t>
            </a:r>
            <a:endParaRPr lang="en-US" sz="2100" dirty="0"/>
          </a:p>
        </p:txBody>
      </p:sp>
      <p:sp>
        <p:nvSpPr>
          <p:cNvPr id="74" name="Text 72"/>
          <p:cNvSpPr txBox="1"/>
          <p:nvPr/>
        </p:nvSpPr>
        <p:spPr>
          <a:xfrm>
            <a:off x="1600200" y="3273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路面形貌</a:t>
            </a:r>
            <a:endParaRPr lang="en-US" sz="2000" dirty="0"/>
          </a:p>
        </p:txBody>
      </p:sp>
      <p:sp>
        <p:nvSpPr>
          <p:cNvPr id="75" name="Text 73"/>
          <p:cNvSpPr txBox="1"/>
          <p:nvPr/>
        </p:nvSpPr>
        <p:spPr>
          <a:xfrm>
            <a:off x="4096512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 ISO 8608 粗糙度谱生成宏观起伏，再叠加 fBm 微纹理和局部法向变化。</a:t>
            </a:r>
            <a:endParaRPr lang="en-US" sz="1280" dirty="0"/>
          </a:p>
        </p:txBody>
      </p:sp>
      <p:sp>
        <p:nvSpPr>
          <p:cNvPr id="76" name="Shape 74"/>
          <p:cNvSpPr/>
          <p:nvPr/>
        </p:nvSpPr>
        <p:spPr>
          <a:xfrm>
            <a:off x="713232" y="5321808"/>
            <a:ext cx="6949440" cy="0"/>
          </a:xfrm>
          <a:prstGeom prst="line">
            <a:avLst/>
          </a:prstGeom>
          <a:noFill/>
          <a:ln w="6985">
            <a:solidFill>
              <a:srgbClr val="C8AD96">
                <a:alpha val="96000"/>
              </a:srgbClr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713232" y="45354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02</a:t>
            </a:r>
            <a:endParaRPr lang="en-US" sz="2100" dirty="0"/>
          </a:p>
        </p:txBody>
      </p:sp>
      <p:sp>
        <p:nvSpPr>
          <p:cNvPr id="78" name="Text 76"/>
          <p:cNvSpPr txBox="1"/>
          <p:nvPr/>
        </p:nvSpPr>
        <p:spPr>
          <a:xfrm>
            <a:off x="1600200" y="4535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病害形变</a:t>
            </a:r>
            <a:endParaRPr lang="en-US" sz="2000" dirty="0"/>
          </a:p>
        </p:txBody>
      </p:sp>
      <p:sp>
        <p:nvSpPr>
          <p:cNvPr id="79" name="Text 77"/>
          <p:cNvSpPr txBox="1"/>
          <p:nvPr/>
        </p:nvSpPr>
        <p:spPr>
          <a:xfrm>
            <a:off x="4096512" y="45079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通过裂缝、坑槽、车辙、剥落等病害原语写入几何结构，标签从几何区域映射得到。</a:t>
            </a:r>
            <a:endParaRPr lang="en-US" sz="1280" dirty="0"/>
          </a:p>
        </p:txBody>
      </p:sp>
      <p:sp>
        <p:nvSpPr>
          <p:cNvPr id="80" name="Shape 78"/>
          <p:cNvSpPr/>
          <p:nvPr/>
        </p:nvSpPr>
        <p:spPr>
          <a:xfrm>
            <a:off x="713232" y="6583680"/>
            <a:ext cx="6949440" cy="0"/>
          </a:xfrm>
          <a:prstGeom prst="line">
            <a:avLst/>
          </a:prstGeom>
          <a:noFill/>
          <a:ln w="6985">
            <a:solidFill>
              <a:srgbClr val="C8AD96">
                <a:alpha val="96000"/>
              </a:srgbClr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713232" y="579729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03</a:t>
            </a:r>
            <a:endParaRPr lang="en-US" sz="2100" dirty="0"/>
          </a:p>
        </p:txBody>
      </p:sp>
      <p:sp>
        <p:nvSpPr>
          <p:cNvPr id="82" name="Text 80"/>
          <p:cNvSpPr txBox="1"/>
          <p:nvPr/>
        </p:nvSpPr>
        <p:spPr>
          <a:xfrm>
            <a:off x="1600200" y="57972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LiDAR 观测</a:t>
            </a:r>
            <a:endParaRPr lang="en-US" sz="2000" dirty="0"/>
          </a:p>
        </p:txBody>
      </p:sp>
      <p:sp>
        <p:nvSpPr>
          <p:cNvPr id="83" name="Text 81"/>
          <p:cNvSpPr txBox="1"/>
          <p:nvPr/>
        </p:nvSpPr>
        <p:spPr>
          <a:xfrm>
            <a:off x="4096512" y="576986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用扫描线重采样、距离噪声和点密度控制，让输入更接近真实扫描点云。</a:t>
            </a:r>
            <a:endParaRPr lang="en-US" sz="1280" dirty="0"/>
          </a:p>
        </p:txBody>
      </p:sp>
      <p:sp>
        <p:nvSpPr>
          <p:cNvPr id="84" name="Shape 82"/>
          <p:cNvSpPr/>
          <p:nvPr/>
        </p:nvSpPr>
        <p:spPr>
          <a:xfrm>
            <a:off x="8156448" y="2852928"/>
            <a:ext cx="3429000" cy="2212848"/>
          </a:xfrm>
          <a:prstGeom prst="rect">
            <a:avLst/>
          </a:prstGeom>
          <a:solidFill>
            <a:srgbClr val="FBF6EE">
              <a:alpha val="60000"/>
            </a:srgbClr>
          </a:solidFill>
          <a:ln w="8255">
            <a:solidFill>
              <a:srgbClr val="E3D2C1">
                <a:alpha val="94000"/>
              </a:srgbClr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8558784" y="327355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GEOMETRY + SENSOR OBSERVATION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8558784" y="3520440"/>
            <a:ext cx="2514600" cy="0"/>
          </a:xfrm>
          <a:prstGeom prst="line">
            <a:avLst/>
          </a:prstGeom>
          <a:noFill/>
          <a:ln w="5715">
            <a:solidFill>
              <a:srgbClr val="C8AD96">
                <a:alpha val="96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641080" y="4160520"/>
            <a:ext cx="484632" cy="27432"/>
          </a:xfrm>
          <a:prstGeom prst="line">
            <a:avLst/>
          </a:prstGeom>
          <a:noFill/>
          <a:ln w="18415">
            <a:solidFill>
              <a:srgbClr val="21191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125712" y="4187952"/>
            <a:ext cx="429768" cy="-91440"/>
          </a:xfrm>
          <a:prstGeom prst="line">
            <a:avLst/>
          </a:prstGeom>
          <a:noFill/>
          <a:ln w="18415">
            <a:solidFill>
              <a:srgbClr val="21191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555480" y="4096512"/>
            <a:ext cx="457200" cy="-45720"/>
          </a:xfrm>
          <a:prstGeom prst="line">
            <a:avLst/>
          </a:prstGeom>
          <a:noFill/>
          <a:ln w="18415">
            <a:solidFill>
              <a:srgbClr val="21191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012680" y="4050792"/>
            <a:ext cx="457200" cy="91440"/>
          </a:xfrm>
          <a:prstGeom prst="line">
            <a:avLst/>
          </a:prstGeom>
          <a:noFill/>
          <a:ln w="18415">
            <a:solidFill>
              <a:srgbClr val="21191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469880" y="4142232"/>
            <a:ext cx="612648" cy="-73152"/>
          </a:xfrm>
          <a:prstGeom prst="line">
            <a:avLst/>
          </a:prstGeom>
          <a:noFill/>
          <a:ln w="18415">
            <a:solidFill>
              <a:srgbClr val="21191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070848" y="4187952"/>
            <a:ext cx="91440" cy="-310896"/>
          </a:xfrm>
          <a:prstGeom prst="line">
            <a:avLst/>
          </a:prstGeom>
          <a:noFill/>
          <a:ln w="25400">
            <a:solidFill>
              <a:srgbClr val="A9472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162288" y="3877056"/>
            <a:ext cx="182880" cy="-201168"/>
          </a:xfrm>
          <a:prstGeom prst="line">
            <a:avLst/>
          </a:prstGeom>
          <a:noFill/>
          <a:ln w="25400">
            <a:solidFill>
              <a:srgbClr val="A9472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345168" y="3675888"/>
            <a:ext cx="182880" cy="237744"/>
          </a:xfrm>
          <a:prstGeom prst="line">
            <a:avLst/>
          </a:prstGeom>
          <a:noFill/>
          <a:ln w="25400">
            <a:solidFill>
              <a:srgbClr val="A9472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528048" y="3913632"/>
            <a:ext cx="91440" cy="274320"/>
          </a:xfrm>
          <a:prstGeom prst="line">
            <a:avLst/>
          </a:prstGeom>
          <a:noFill/>
          <a:ln w="25400">
            <a:solidFill>
              <a:srgbClr val="A9472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104120" y="4133088"/>
            <a:ext cx="192024" cy="-155448"/>
          </a:xfrm>
          <a:prstGeom prst="line">
            <a:avLst/>
          </a:prstGeom>
          <a:noFill/>
          <a:ln w="25400">
            <a:solidFill>
              <a:srgbClr val="A9472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296144" y="3977640"/>
            <a:ext cx="292608" cy="-9144"/>
          </a:xfrm>
          <a:prstGeom prst="line">
            <a:avLst/>
          </a:prstGeom>
          <a:noFill/>
          <a:ln w="25400">
            <a:solidFill>
              <a:srgbClr val="A9472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588752" y="3968496"/>
            <a:ext cx="219456" cy="137160"/>
          </a:xfrm>
          <a:prstGeom prst="line">
            <a:avLst/>
          </a:prstGeom>
          <a:noFill/>
          <a:ln w="25400">
            <a:solidFill>
              <a:srgbClr val="A9472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771839" y="4291279"/>
            <a:ext cx="49378" cy="49378"/>
          </a:xfrm>
          <a:prstGeom prst="ellipse">
            <a:avLst/>
          </a:prstGeom>
          <a:solidFill>
            <a:srgbClr val="465F76">
              <a:alpha val="75000"/>
            </a:srgbClr>
          </a:solidFill>
          <a:ln w="12700">
            <a:solidFill>
              <a:srgbClr val="465F76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027871" y="4263847"/>
            <a:ext cx="49378" cy="49378"/>
          </a:xfrm>
          <a:prstGeom prst="ellipse">
            <a:avLst/>
          </a:prstGeom>
          <a:solidFill>
            <a:srgbClr val="465F76">
              <a:alpha val="75000"/>
            </a:srgbClr>
          </a:solidFill>
          <a:ln w="12700">
            <a:solidFill>
              <a:srgbClr val="465F76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265615" y="4327855"/>
            <a:ext cx="49378" cy="49378"/>
          </a:xfrm>
          <a:prstGeom prst="ellipse">
            <a:avLst/>
          </a:prstGeom>
          <a:solidFill>
            <a:srgbClr val="465F76">
              <a:alpha val="75000"/>
            </a:srgbClr>
          </a:solidFill>
          <a:ln w="12700">
            <a:solidFill>
              <a:srgbClr val="465F76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503359" y="4254703"/>
            <a:ext cx="49378" cy="49378"/>
          </a:xfrm>
          <a:prstGeom prst="ellipse">
            <a:avLst/>
          </a:prstGeom>
          <a:solidFill>
            <a:srgbClr val="465F76">
              <a:alpha val="75000"/>
            </a:srgbClr>
          </a:solidFill>
          <a:ln w="12700">
            <a:solidFill>
              <a:srgbClr val="465F76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777679" y="4208983"/>
            <a:ext cx="49378" cy="49378"/>
          </a:xfrm>
          <a:prstGeom prst="ellipse">
            <a:avLst/>
          </a:prstGeom>
          <a:solidFill>
            <a:srgbClr val="465F76">
              <a:alpha val="75000"/>
            </a:srgbClr>
          </a:solidFill>
          <a:ln w="12700">
            <a:solidFill>
              <a:srgbClr val="465F7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051999" y="4245559"/>
            <a:ext cx="49378" cy="49378"/>
          </a:xfrm>
          <a:prstGeom prst="ellipse">
            <a:avLst/>
          </a:prstGeom>
          <a:solidFill>
            <a:srgbClr val="465F76">
              <a:alpha val="75000"/>
            </a:srgbClr>
          </a:solidFill>
          <a:ln w="12700">
            <a:solidFill>
              <a:srgbClr val="465F76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362895" y="4346143"/>
            <a:ext cx="49378" cy="49378"/>
          </a:xfrm>
          <a:prstGeom prst="ellipse">
            <a:avLst/>
          </a:prstGeom>
          <a:solidFill>
            <a:srgbClr val="465F76">
              <a:alpha val="75000"/>
            </a:srgbClr>
          </a:solidFill>
          <a:ln w="12700">
            <a:solidFill>
              <a:srgbClr val="465F76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600639" y="4410151"/>
            <a:ext cx="49378" cy="49378"/>
          </a:xfrm>
          <a:prstGeom prst="ellipse">
            <a:avLst/>
          </a:prstGeom>
          <a:solidFill>
            <a:srgbClr val="465F76">
              <a:alpha val="75000"/>
            </a:srgbClr>
          </a:solidFill>
          <a:ln w="12700">
            <a:solidFill>
              <a:srgbClr val="465F76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838383" y="4300423"/>
            <a:ext cx="49378" cy="49378"/>
          </a:xfrm>
          <a:prstGeom prst="ellipse">
            <a:avLst/>
          </a:prstGeom>
          <a:solidFill>
            <a:srgbClr val="465F76">
              <a:alpha val="75000"/>
            </a:srgbClr>
          </a:solidFill>
          <a:ln w="12700">
            <a:solidFill>
              <a:srgbClr val="465F76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156448" y="5285232"/>
            <a:ext cx="3429000" cy="0"/>
          </a:xfrm>
          <a:prstGeom prst="line">
            <a:avLst/>
          </a:prstGeom>
          <a:noFill/>
          <a:ln w="12700">
            <a:solidFill>
              <a:srgbClr val="211915">
                <a:alpha val="96000"/>
              </a:srgbClr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8156448" y="54681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.npz output</a:t>
            </a:r>
            <a:endParaRPr lang="en-US" sz="1200" dirty="0"/>
          </a:p>
        </p:txBody>
      </p:sp>
      <p:sp>
        <p:nvSpPr>
          <p:cNvPr id="110" name="Text 108"/>
          <p:cNvSpPr txBox="1"/>
          <p:nvPr/>
        </p:nvSpPr>
        <p:spPr>
          <a:xfrm>
            <a:off x="8156448" y="57972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11915"/>
                </a:solidFill>
                <a:latin typeface="Tiempos Text" pitchFamily="34" charset="0"/>
                <a:ea typeface="Tiempos Text" pitchFamily="34" charset="-122"/>
                <a:cs typeface="Tiempos Text" pitchFamily="34" charset="-120"/>
              </a:rPr>
              <a:t>points</a:t>
            </a:r>
            <a:endParaRPr lang="en-US" sz="1250" dirty="0"/>
          </a:p>
        </p:txBody>
      </p:sp>
      <p:sp>
        <p:nvSpPr>
          <p:cNvPr id="111" name="Shape 109"/>
          <p:cNvSpPr/>
          <p:nvPr/>
        </p:nvSpPr>
        <p:spPr>
          <a:xfrm>
            <a:off x="8156448" y="6035040"/>
            <a:ext cx="1600200" cy="0"/>
          </a:xfrm>
          <a:prstGeom prst="line">
            <a:avLst/>
          </a:prstGeom>
          <a:noFill/>
          <a:ln w="5715">
            <a:solidFill>
              <a:srgbClr val="E3D2C1">
                <a:alpha val="96000"/>
              </a:srgbClr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9939528" y="57972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11915"/>
                </a:solidFill>
                <a:latin typeface="Tiempos Text" pitchFamily="34" charset="0"/>
                <a:ea typeface="Tiempos Text" pitchFamily="34" charset="-122"/>
                <a:cs typeface="Tiempos Text" pitchFamily="34" charset="-120"/>
              </a:rPr>
              <a:t>labels</a:t>
            </a:r>
            <a:endParaRPr lang="en-US" sz="1250" dirty="0"/>
          </a:p>
        </p:txBody>
      </p:sp>
      <p:sp>
        <p:nvSpPr>
          <p:cNvPr id="113" name="Shape 111"/>
          <p:cNvSpPr/>
          <p:nvPr/>
        </p:nvSpPr>
        <p:spPr>
          <a:xfrm>
            <a:off x="9939528" y="6035040"/>
            <a:ext cx="1600200" cy="0"/>
          </a:xfrm>
          <a:prstGeom prst="line">
            <a:avLst/>
          </a:prstGeom>
          <a:noFill/>
          <a:ln w="5715">
            <a:solidFill>
              <a:srgbClr val="E3D2C1">
                <a:alpha val="96000"/>
              </a:srgbClr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8156448" y="61264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11915"/>
                </a:solidFill>
                <a:latin typeface="Tiempos Text" pitchFamily="34" charset="0"/>
                <a:ea typeface="Tiempos Text" pitchFamily="34" charset="-122"/>
                <a:cs typeface="Tiempos Text" pitchFamily="34" charset="-120"/>
              </a:rPr>
              <a:t>feats</a:t>
            </a:r>
            <a:endParaRPr lang="en-US" sz="1250" dirty="0"/>
          </a:p>
        </p:txBody>
      </p:sp>
      <p:sp>
        <p:nvSpPr>
          <p:cNvPr id="115" name="Shape 113"/>
          <p:cNvSpPr/>
          <p:nvPr/>
        </p:nvSpPr>
        <p:spPr>
          <a:xfrm>
            <a:off x="8156448" y="6364224"/>
            <a:ext cx="1600200" cy="0"/>
          </a:xfrm>
          <a:prstGeom prst="line">
            <a:avLst/>
          </a:prstGeom>
          <a:noFill/>
          <a:ln w="5715">
            <a:solidFill>
              <a:srgbClr val="E3D2C1">
                <a:alpha val="96000"/>
              </a:srgbClr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9939528" y="612648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11915"/>
                </a:solidFill>
                <a:latin typeface="Tiempos Text" pitchFamily="34" charset="0"/>
                <a:ea typeface="Tiempos Text" pitchFamily="34" charset="-122"/>
                <a:cs typeface="Tiempos Text" pitchFamily="34" charset="-120"/>
              </a:rPr>
              <a:t>normals</a:t>
            </a:r>
            <a:endParaRPr lang="en-US" sz="1250" dirty="0"/>
          </a:p>
        </p:txBody>
      </p:sp>
      <p:sp>
        <p:nvSpPr>
          <p:cNvPr id="117" name="Shape 115"/>
          <p:cNvSpPr/>
          <p:nvPr/>
        </p:nvSpPr>
        <p:spPr>
          <a:xfrm>
            <a:off x="9939528" y="6364224"/>
            <a:ext cx="1600200" cy="0"/>
          </a:xfrm>
          <a:prstGeom prst="line">
            <a:avLst/>
          </a:prstGeom>
          <a:noFill/>
          <a:ln w="5715">
            <a:solidFill>
              <a:srgbClr val="E3D2C1">
                <a:alpha val="96000"/>
              </a:srgbClr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8156448" y="645566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11915"/>
                </a:solidFill>
                <a:latin typeface="Tiempos Text" pitchFamily="34" charset="0"/>
                <a:ea typeface="Tiempos Text" pitchFamily="34" charset="-122"/>
                <a:cs typeface="Tiempos Text" pitchFamily="34" charset="-120"/>
              </a:rPr>
              <a:t>pavement_type</a:t>
            </a:r>
            <a:endParaRPr lang="en-US" sz="1250" dirty="0"/>
          </a:p>
        </p:txBody>
      </p:sp>
      <p:sp>
        <p:nvSpPr>
          <p:cNvPr id="119" name="Shape 117"/>
          <p:cNvSpPr/>
          <p:nvPr/>
        </p:nvSpPr>
        <p:spPr>
          <a:xfrm>
            <a:off x="8156448" y="6693408"/>
            <a:ext cx="1600200" cy="0"/>
          </a:xfrm>
          <a:prstGeom prst="line">
            <a:avLst/>
          </a:prstGeom>
          <a:noFill/>
          <a:ln w="5715">
            <a:solidFill>
              <a:srgbClr val="E3D2C1">
                <a:alpha val="96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A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200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601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12801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16002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9202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2402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25603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28803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32004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35204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38404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1605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4805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8006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51206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54406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7607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60807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64008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67208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56032" y="228600"/>
            <a:ext cx="11686032" cy="6400800"/>
          </a:xfrm>
          <a:prstGeom prst="rect">
            <a:avLst/>
          </a:prstGeom>
          <a:solidFill>
            <a:srgbClr val="F5EADC">
              <a:alpha val="0"/>
            </a:srgbClr>
          </a:solidFill>
          <a:ln w="7620">
            <a:solidFill>
              <a:srgbClr val="E3D2C1">
                <a:alpha val="9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771632" y="6400800"/>
            <a:ext cx="548640" cy="0"/>
          </a:xfrm>
          <a:prstGeom prst="line">
            <a:avLst/>
          </a:prstGeom>
          <a:noFill/>
          <a:ln w="10160">
            <a:solidFill>
              <a:srgbClr val="C8AD96">
                <a:alpha val="94000"/>
              </a:srgbClr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1475720" y="63185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8675B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05</a:t>
            </a:r>
            <a:endParaRPr lang="en-US" sz="750" dirty="0"/>
          </a:p>
        </p:txBody>
      </p:sp>
      <p:sp>
        <p:nvSpPr>
          <p:cNvPr id="66" name="Text 64"/>
          <p:cNvSpPr txBox="1"/>
          <p:nvPr/>
        </p:nvSpPr>
        <p:spPr>
          <a:xfrm>
            <a:off x="713232" y="5029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05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1234440" y="5120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TRAINING ROUTE</a:t>
            </a:r>
            <a:endParaRPr lang="en-US" sz="960" dirty="0"/>
          </a:p>
        </p:txBody>
      </p:sp>
      <p:sp>
        <p:nvSpPr>
          <p:cNvPr id="68" name="Shape 66"/>
          <p:cNvSpPr/>
          <p:nvPr/>
        </p:nvSpPr>
        <p:spPr>
          <a:xfrm>
            <a:off x="1234440" y="649224"/>
            <a:ext cx="3566160" cy="0"/>
          </a:xfrm>
          <a:prstGeom prst="line">
            <a:avLst/>
          </a:prstGeom>
          <a:noFill/>
          <a:ln w="6985">
            <a:solidFill>
              <a:srgbClr val="C8AD96">
                <a:alpha val="90000"/>
              </a:srgbClr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13232" y="877824"/>
            <a:ext cx="8549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训练先稳定“病害前景”，再迁移到 38 类细分</a:t>
            </a:r>
            <a:endParaRPr lang="en-US" sz="3300" dirty="0"/>
          </a:p>
        </p:txBody>
      </p:sp>
      <p:sp>
        <p:nvSpPr>
          <p:cNvPr id="70" name="Text 68"/>
          <p:cNvSpPr txBox="1"/>
          <p:nvPr/>
        </p:nvSpPr>
        <p:spPr>
          <a:xfrm>
            <a:off x="713232" y="185623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当前更稳的路线是先做二分类，校准前景阈值和边界，再把 backbone 迁移到细粒度类别体系。</a:t>
            </a:r>
            <a:endParaRPr lang="en-US" sz="1450" dirty="0"/>
          </a:p>
        </p:txBody>
      </p:sp>
      <p:sp>
        <p:nvSpPr>
          <p:cNvPr id="71" name="Shape 69"/>
          <p:cNvSpPr/>
          <p:nvPr/>
        </p:nvSpPr>
        <p:spPr>
          <a:xfrm>
            <a:off x="713232" y="2706624"/>
            <a:ext cx="2468880" cy="0"/>
          </a:xfrm>
          <a:prstGeom prst="line">
            <a:avLst/>
          </a:prstGeom>
          <a:noFill/>
          <a:ln w="12700">
            <a:solidFill>
              <a:srgbClr val="211915">
                <a:alpha val="96000"/>
              </a:srgbClr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13232" y="297180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01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1298448" y="29535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191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二分类</a:t>
            </a:r>
            <a:endParaRPr lang="en-US" sz="1700" dirty="0"/>
          </a:p>
        </p:txBody>
      </p:sp>
      <p:sp>
        <p:nvSpPr>
          <p:cNvPr id="74" name="Text 72"/>
          <p:cNvSpPr txBox="1"/>
          <p:nvPr/>
        </p:nvSpPr>
        <p:spPr>
          <a:xfrm>
            <a:off x="1298448" y="330098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背景 / 病害，先解决能否识别前景。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713232" y="3739896"/>
            <a:ext cx="2468880" cy="0"/>
          </a:xfrm>
          <a:prstGeom prst="line">
            <a:avLst/>
          </a:prstGeom>
          <a:noFill/>
          <a:ln w="5715">
            <a:solidFill>
              <a:srgbClr val="E3D2C1">
                <a:alpha val="96000"/>
              </a:srgbClr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13232" y="395935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02</a:t>
            </a:r>
            <a:endParaRPr lang="en-US" sz="1000" dirty="0"/>
          </a:p>
        </p:txBody>
      </p:sp>
      <p:sp>
        <p:nvSpPr>
          <p:cNvPr id="77" name="Text 75"/>
          <p:cNvSpPr txBox="1"/>
          <p:nvPr/>
        </p:nvSpPr>
        <p:spPr>
          <a:xfrm>
            <a:off x="1298448" y="394106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191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阈值校准</a:t>
            </a:r>
            <a:endParaRPr lang="en-US" sz="1700" dirty="0"/>
          </a:p>
        </p:txBody>
      </p:sp>
      <p:sp>
        <p:nvSpPr>
          <p:cNvPr id="78" name="Text 76"/>
          <p:cNvSpPr txBox="1"/>
          <p:nvPr/>
        </p:nvSpPr>
        <p:spPr>
          <a:xfrm>
            <a:off x="1298448" y="428853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当前经验阈值约在 0.44 附近更优。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713232" y="4727448"/>
            <a:ext cx="2468880" cy="0"/>
          </a:xfrm>
          <a:prstGeom prst="line">
            <a:avLst/>
          </a:prstGeom>
          <a:noFill/>
          <a:ln w="5715">
            <a:solidFill>
              <a:srgbClr val="E3D2C1">
                <a:alpha val="96000"/>
              </a:srgbClr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713232" y="494690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03</a:t>
            </a:r>
            <a:endParaRPr lang="en-US" sz="1000" dirty="0"/>
          </a:p>
        </p:txBody>
      </p:sp>
      <p:sp>
        <p:nvSpPr>
          <p:cNvPr id="81" name="Text 79"/>
          <p:cNvSpPr txBox="1"/>
          <p:nvPr/>
        </p:nvSpPr>
        <p:spPr>
          <a:xfrm>
            <a:off x="1298448" y="492861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191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迁移骨干</a:t>
            </a:r>
            <a:endParaRPr lang="en-US" sz="1700" dirty="0"/>
          </a:p>
        </p:txBody>
      </p:sp>
      <p:sp>
        <p:nvSpPr>
          <p:cNvPr id="82" name="Text 80"/>
          <p:cNvSpPr txBox="1"/>
          <p:nvPr/>
        </p:nvSpPr>
        <p:spPr>
          <a:xfrm>
            <a:off x="1298448" y="52760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复用前景边界和几何表征。</a:t>
            </a:r>
            <a:endParaRPr lang="en-US" sz="1150" dirty="0"/>
          </a:p>
        </p:txBody>
      </p:sp>
      <p:sp>
        <p:nvSpPr>
          <p:cNvPr id="83" name="Shape 81"/>
          <p:cNvSpPr/>
          <p:nvPr/>
        </p:nvSpPr>
        <p:spPr>
          <a:xfrm>
            <a:off x="713232" y="5715000"/>
            <a:ext cx="2468880" cy="0"/>
          </a:xfrm>
          <a:prstGeom prst="line">
            <a:avLst/>
          </a:prstGeom>
          <a:noFill/>
          <a:ln w="5715">
            <a:solidFill>
              <a:srgbClr val="E3D2C1">
                <a:alpha val="96000"/>
              </a:srgbClr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713232" y="593445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04</a:t>
            </a:r>
            <a:endParaRPr lang="en-US" sz="1000" dirty="0"/>
          </a:p>
        </p:txBody>
      </p:sp>
      <p:sp>
        <p:nvSpPr>
          <p:cNvPr id="85" name="Text 83"/>
          <p:cNvSpPr txBox="1"/>
          <p:nvPr/>
        </p:nvSpPr>
        <p:spPr>
          <a:xfrm>
            <a:off x="1298448" y="59161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191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38 类细分</a:t>
            </a:r>
            <a:endParaRPr lang="en-US" sz="1700" dirty="0"/>
          </a:p>
        </p:txBody>
      </p:sp>
      <p:sp>
        <p:nvSpPr>
          <p:cNvPr id="86" name="Text 84"/>
          <p:cNvSpPr txBox="1"/>
          <p:nvPr/>
        </p:nvSpPr>
        <p:spPr>
          <a:xfrm>
            <a:off x="1298448" y="62636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分阶段扩展，避免冷启动塌缩。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713232" y="6702552"/>
            <a:ext cx="2468880" cy="0"/>
          </a:xfrm>
          <a:prstGeom prst="line">
            <a:avLst/>
          </a:prstGeom>
          <a:noFill/>
          <a:ln w="5715">
            <a:solidFill>
              <a:srgbClr val="E3D2C1">
                <a:alpha val="96000"/>
              </a:srgbClr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3639312" y="2724912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MODEL PIPELINE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3639312" y="3127248"/>
            <a:ext cx="1261872" cy="841248"/>
          </a:xfrm>
          <a:prstGeom prst="rect">
            <a:avLst/>
          </a:prstGeom>
          <a:solidFill>
            <a:srgbClr val="FBF6EE">
              <a:alpha val="82000"/>
            </a:srgbClr>
          </a:solidFill>
          <a:ln w="8255">
            <a:solidFill>
              <a:srgbClr val="C8AD96">
                <a:alpha val="94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321808" y="3127248"/>
            <a:ext cx="1463040" cy="841248"/>
          </a:xfrm>
          <a:prstGeom prst="rect">
            <a:avLst/>
          </a:prstGeom>
          <a:solidFill>
            <a:srgbClr val="FBF6EE">
              <a:alpha val="82000"/>
            </a:srgbClr>
          </a:solidFill>
          <a:ln w="8255">
            <a:solidFill>
              <a:srgbClr val="C8AD96">
                <a:alpha val="94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05472" y="3127248"/>
            <a:ext cx="1207008" cy="841248"/>
          </a:xfrm>
          <a:prstGeom prst="rect">
            <a:avLst/>
          </a:prstGeom>
          <a:solidFill>
            <a:srgbClr val="FBF6EE">
              <a:alpha val="82000"/>
            </a:srgbClr>
          </a:solidFill>
          <a:ln w="8255">
            <a:solidFill>
              <a:srgbClr val="C8AD96">
                <a:alpha val="94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823960" y="3127248"/>
            <a:ext cx="1463040" cy="841248"/>
          </a:xfrm>
          <a:prstGeom prst="rect">
            <a:avLst/>
          </a:prstGeom>
          <a:solidFill>
            <a:srgbClr val="FBF6EE">
              <a:alpha val="82000"/>
            </a:srgbClr>
          </a:solidFill>
          <a:ln w="8255">
            <a:solidFill>
              <a:srgbClr val="C8AD96">
                <a:alpha val="94000"/>
              </a:srgbClr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3803904" y="33101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输入点云</a:t>
            </a:r>
            <a:endParaRPr lang="en-US" sz="1550" dirty="0"/>
          </a:p>
        </p:txBody>
      </p:sp>
      <p:sp>
        <p:nvSpPr>
          <p:cNvPr id="94" name="Text 92"/>
          <p:cNvSpPr txBox="1"/>
          <p:nvPr/>
        </p:nvSpPr>
        <p:spPr>
          <a:xfrm>
            <a:off x="3803904" y="362102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points / feats 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normals</a:t>
            </a:r>
            <a:endParaRPr lang="en-US" sz="950" dirty="0"/>
          </a:p>
        </p:txBody>
      </p:sp>
      <p:sp>
        <p:nvSpPr>
          <p:cNvPr id="95" name="Text 93"/>
          <p:cNvSpPr txBox="1"/>
          <p:nvPr/>
        </p:nvSpPr>
        <p:spPr>
          <a:xfrm>
            <a:off x="5486400" y="33101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Swin3D</a:t>
            </a:r>
            <a:endParaRPr lang="en-US" sz="1550" dirty="0"/>
          </a:p>
        </p:txBody>
      </p:sp>
      <p:sp>
        <p:nvSpPr>
          <p:cNvPr id="96" name="Text 94"/>
          <p:cNvSpPr txBox="1"/>
          <p:nvPr/>
        </p:nvSpPr>
        <p:spPr>
          <a:xfrm>
            <a:off x="5486400" y="362102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当前稳定精度基线</a:t>
            </a:r>
            <a:endParaRPr lang="en-US" sz="950" dirty="0"/>
          </a:p>
        </p:txBody>
      </p:sp>
      <p:sp>
        <p:nvSpPr>
          <p:cNvPr id="97" name="Text 95"/>
          <p:cNvSpPr txBox="1"/>
          <p:nvPr/>
        </p:nvSpPr>
        <p:spPr>
          <a:xfrm>
            <a:off x="7370064" y="33101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mHC</a:t>
            </a:r>
            <a:endParaRPr lang="en-US" sz="1550" dirty="0"/>
          </a:p>
        </p:txBody>
      </p:sp>
      <p:sp>
        <p:nvSpPr>
          <p:cNvPr id="98" name="Text 96"/>
          <p:cNvSpPr txBox="1"/>
          <p:nvPr/>
        </p:nvSpPr>
        <p:spPr>
          <a:xfrm>
            <a:off x="7370064" y="362102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通道混合增强</a:t>
            </a:r>
            <a:endParaRPr lang="en-US" sz="950" dirty="0"/>
          </a:p>
        </p:txBody>
      </p:sp>
      <p:sp>
        <p:nvSpPr>
          <p:cNvPr id="99" name="Text 97"/>
          <p:cNvSpPr txBox="1"/>
          <p:nvPr/>
        </p:nvSpPr>
        <p:spPr>
          <a:xfrm>
            <a:off x="8988552" y="33101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Seg Head</a:t>
            </a:r>
            <a:endParaRPr lang="en-US" sz="1550" dirty="0"/>
          </a:p>
        </p:txBody>
      </p:sp>
      <p:sp>
        <p:nvSpPr>
          <p:cNvPr id="100" name="Text 98"/>
          <p:cNvSpPr txBox="1"/>
          <p:nvPr/>
        </p:nvSpPr>
        <p:spPr>
          <a:xfrm>
            <a:off x="8988552" y="362102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二分类 / 多分类输出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5010912" y="3547872"/>
            <a:ext cx="274320" cy="0"/>
          </a:xfrm>
          <a:prstGeom prst="line">
            <a:avLst/>
          </a:prstGeom>
          <a:noFill/>
          <a:ln w="15240">
            <a:solidFill>
              <a:srgbClr val="DC8B67"/>
            </a:solidFill>
            <a:prstDash val="solid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6894576" y="3547872"/>
            <a:ext cx="274320" cy="0"/>
          </a:xfrm>
          <a:prstGeom prst="line">
            <a:avLst/>
          </a:prstGeom>
          <a:noFill/>
          <a:ln w="15240">
            <a:solidFill>
              <a:srgbClr val="DC8B67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8522208" y="3547872"/>
            <a:ext cx="274320" cy="0"/>
          </a:xfrm>
          <a:prstGeom prst="line">
            <a:avLst/>
          </a:prstGeom>
          <a:noFill/>
          <a:ln w="15240">
            <a:solidFill>
              <a:srgbClr val="DC8B67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>
            <a:off x="3639312" y="4315968"/>
            <a:ext cx="1901952" cy="713232"/>
          </a:xfrm>
          <a:prstGeom prst="rect">
            <a:avLst/>
          </a:prstGeom>
          <a:solidFill>
            <a:srgbClr val="FBF6EE">
              <a:alpha val="86000"/>
            </a:srgbClr>
          </a:solidFill>
          <a:ln w="12700">
            <a:solidFill>
              <a:srgbClr val="A9472C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39312" y="4315968"/>
            <a:ext cx="1901952" cy="0"/>
          </a:xfrm>
          <a:prstGeom prst="line">
            <a:avLst/>
          </a:prstGeom>
          <a:noFill/>
          <a:ln w="12700">
            <a:solidFill>
              <a:srgbClr val="A9472C">
                <a:alpha val="96000"/>
              </a:srgbClr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3785616" y="44988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47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Focal</a:t>
            </a:r>
            <a:endParaRPr lang="en-US" sz="1050" dirty="0"/>
          </a:p>
        </p:txBody>
      </p:sp>
      <p:sp>
        <p:nvSpPr>
          <p:cNvPr id="107" name="Text 105"/>
          <p:cNvSpPr txBox="1"/>
          <p:nvPr/>
        </p:nvSpPr>
        <p:spPr>
          <a:xfrm>
            <a:off x="3785616" y="47365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抑制背景主导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5650992" y="4315968"/>
            <a:ext cx="1901952" cy="713232"/>
          </a:xfrm>
          <a:prstGeom prst="rect">
            <a:avLst/>
          </a:prstGeom>
          <a:solidFill>
            <a:srgbClr val="FBF6EE">
              <a:alpha val="86000"/>
            </a:srgbClr>
          </a:solidFill>
          <a:ln w="12700">
            <a:solidFill>
              <a:srgbClr val="A9472C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650992" y="4315968"/>
            <a:ext cx="1901952" cy="0"/>
          </a:xfrm>
          <a:prstGeom prst="line">
            <a:avLst/>
          </a:prstGeom>
          <a:noFill/>
          <a:ln w="12700">
            <a:solidFill>
              <a:srgbClr val="A9472C">
                <a:alpha val="96000"/>
              </a:srgbClr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5797296" y="44988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47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Dice</a:t>
            </a:r>
            <a:endParaRPr lang="en-US" sz="1050" dirty="0"/>
          </a:p>
        </p:txBody>
      </p:sp>
      <p:sp>
        <p:nvSpPr>
          <p:cNvPr id="111" name="Text 109"/>
          <p:cNvSpPr txBox="1"/>
          <p:nvPr/>
        </p:nvSpPr>
        <p:spPr>
          <a:xfrm>
            <a:off x="5797296" y="47365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稳定小目标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7662672" y="4315968"/>
            <a:ext cx="1901952" cy="713232"/>
          </a:xfrm>
          <a:prstGeom prst="rect">
            <a:avLst/>
          </a:prstGeom>
          <a:solidFill>
            <a:srgbClr val="FBF6EE">
              <a:alpha val="86000"/>
            </a:srgbClr>
          </a:solidFill>
          <a:ln w="12700">
            <a:solidFill>
              <a:srgbClr val="A9472C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662672" y="4315968"/>
            <a:ext cx="1901952" cy="0"/>
          </a:xfrm>
          <a:prstGeom prst="line">
            <a:avLst/>
          </a:prstGeom>
          <a:noFill/>
          <a:ln w="12700">
            <a:solidFill>
              <a:srgbClr val="A9472C">
                <a:alpha val="96000"/>
              </a:srgbClr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7808976" y="44988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47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Edge</a:t>
            </a:r>
            <a:endParaRPr lang="en-US" sz="1050" dirty="0"/>
          </a:p>
        </p:txBody>
      </p:sp>
      <p:sp>
        <p:nvSpPr>
          <p:cNvPr id="115" name="Text 113"/>
          <p:cNvSpPr txBox="1"/>
          <p:nvPr/>
        </p:nvSpPr>
        <p:spPr>
          <a:xfrm>
            <a:off x="7808976" y="47365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强化裂缝边界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9674352" y="4315968"/>
            <a:ext cx="1901952" cy="713232"/>
          </a:xfrm>
          <a:prstGeom prst="rect">
            <a:avLst/>
          </a:prstGeom>
          <a:solidFill>
            <a:srgbClr val="FBF6EE">
              <a:alpha val="86000"/>
            </a:srgbClr>
          </a:solidFill>
          <a:ln w="12700">
            <a:solidFill>
              <a:srgbClr val="A9472C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674352" y="4315968"/>
            <a:ext cx="1901952" cy="0"/>
          </a:xfrm>
          <a:prstGeom prst="line">
            <a:avLst/>
          </a:prstGeom>
          <a:noFill/>
          <a:ln w="12700">
            <a:solidFill>
              <a:srgbClr val="A9472C">
                <a:alpha val="96000"/>
              </a:srgbClr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9820656" y="44988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47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Muon + AdamW</a:t>
            </a:r>
            <a:endParaRPr lang="en-US" sz="1050" dirty="0"/>
          </a:p>
        </p:txBody>
      </p:sp>
      <p:sp>
        <p:nvSpPr>
          <p:cNvPr id="119" name="Text 117"/>
          <p:cNvSpPr txBox="1"/>
          <p:nvPr/>
        </p:nvSpPr>
        <p:spPr>
          <a:xfrm>
            <a:off x="9820656" y="47365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混合优化，可回退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A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200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601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12801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16002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9202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2402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25603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28803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32004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35204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38404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1605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4805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8006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51206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54406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7607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60807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64008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67208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56032" y="228600"/>
            <a:ext cx="11686032" cy="6400800"/>
          </a:xfrm>
          <a:prstGeom prst="rect">
            <a:avLst/>
          </a:prstGeom>
          <a:solidFill>
            <a:srgbClr val="F5EADC">
              <a:alpha val="0"/>
            </a:srgbClr>
          </a:solidFill>
          <a:ln w="7620">
            <a:solidFill>
              <a:srgbClr val="E3D2C1">
                <a:alpha val="9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771632" y="6400800"/>
            <a:ext cx="548640" cy="0"/>
          </a:xfrm>
          <a:prstGeom prst="line">
            <a:avLst/>
          </a:prstGeom>
          <a:noFill/>
          <a:ln w="10160">
            <a:solidFill>
              <a:srgbClr val="C8AD96">
                <a:alpha val="94000"/>
              </a:srgbClr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1475720" y="63185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8675B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06</a:t>
            </a:r>
            <a:endParaRPr lang="en-US" sz="750" dirty="0"/>
          </a:p>
        </p:txBody>
      </p:sp>
      <p:sp>
        <p:nvSpPr>
          <p:cNvPr id="66" name="Text 64"/>
          <p:cNvSpPr txBox="1"/>
          <p:nvPr/>
        </p:nvSpPr>
        <p:spPr>
          <a:xfrm>
            <a:off x="713232" y="5029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06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1234440" y="5120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CURRENT EVIDENCE</a:t>
            </a:r>
            <a:endParaRPr lang="en-US" sz="960" dirty="0"/>
          </a:p>
        </p:txBody>
      </p:sp>
      <p:sp>
        <p:nvSpPr>
          <p:cNvPr id="68" name="Shape 66"/>
          <p:cNvSpPr/>
          <p:nvPr/>
        </p:nvSpPr>
        <p:spPr>
          <a:xfrm>
            <a:off x="1234440" y="649224"/>
            <a:ext cx="3566160" cy="0"/>
          </a:xfrm>
          <a:prstGeom prst="line">
            <a:avLst/>
          </a:prstGeom>
          <a:noFill/>
          <a:ln w="6985">
            <a:solidFill>
              <a:srgbClr val="C8AD96">
                <a:alpha val="90000"/>
              </a:srgbClr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13232" y="877824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当前结果说明路线可行，但不能被说成最终泛化结论</a:t>
            </a:r>
            <a:endParaRPr lang="en-US" sz="2700" dirty="0"/>
          </a:p>
        </p:txBody>
      </p:sp>
      <p:sp>
        <p:nvSpPr>
          <p:cNvPr id="70" name="Shape 68"/>
          <p:cNvSpPr/>
          <p:nvPr/>
        </p:nvSpPr>
        <p:spPr>
          <a:xfrm>
            <a:off x="713232" y="2212848"/>
            <a:ext cx="1920240" cy="0"/>
          </a:xfrm>
          <a:prstGeom prst="line">
            <a:avLst/>
          </a:prstGeom>
          <a:noFill/>
          <a:ln w="15875">
            <a:solidFill>
              <a:srgbClr val="A9472C">
                <a:alpha val="96000"/>
              </a:srgbClr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13232" y="237744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0.7319</a:t>
            </a:r>
            <a:endParaRPr lang="en-US" sz="3100" dirty="0"/>
          </a:p>
        </p:txBody>
      </p:sp>
      <p:sp>
        <p:nvSpPr>
          <p:cNvPr id="72" name="Text 70"/>
          <p:cNvSpPr txBox="1"/>
          <p:nvPr/>
        </p:nvSpPr>
        <p:spPr>
          <a:xfrm>
            <a:off x="713232" y="29626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Swin3D + mHC, 校准后 global mIoU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13232" y="3419856"/>
            <a:ext cx="1920240" cy="0"/>
          </a:xfrm>
          <a:prstGeom prst="line">
            <a:avLst/>
          </a:prstGeom>
          <a:noFill/>
          <a:ln w="5715">
            <a:solidFill>
              <a:srgbClr val="E3D2C1">
                <a:alpha val="96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16352" y="2212848"/>
            <a:ext cx="1920240" cy="0"/>
          </a:xfrm>
          <a:prstGeom prst="line">
            <a:avLst/>
          </a:prstGeom>
          <a:noFill/>
          <a:ln w="15875">
            <a:solidFill>
              <a:srgbClr val="A9472C">
                <a:alpha val="96000"/>
              </a:srgbClr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2816352" y="237744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0.7052</a:t>
            </a:r>
            <a:endParaRPr lang="en-US" sz="3100" dirty="0"/>
          </a:p>
        </p:txBody>
      </p:sp>
      <p:sp>
        <p:nvSpPr>
          <p:cNvPr id="76" name="Text 74"/>
          <p:cNvSpPr txBox="1"/>
          <p:nvPr/>
        </p:nvSpPr>
        <p:spPr>
          <a:xfrm>
            <a:off x="2816352" y="29626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disease IoU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816352" y="3419856"/>
            <a:ext cx="1920240" cy="0"/>
          </a:xfrm>
          <a:prstGeom prst="line">
            <a:avLst/>
          </a:prstGeom>
          <a:noFill/>
          <a:ln w="5715">
            <a:solidFill>
              <a:srgbClr val="E3D2C1">
                <a:alpha val="96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13232" y="3977640"/>
            <a:ext cx="1600200" cy="0"/>
          </a:xfrm>
          <a:prstGeom prst="line">
            <a:avLst/>
          </a:prstGeom>
          <a:noFill/>
          <a:ln w="8255">
            <a:solidFill>
              <a:srgbClr val="C8AD96">
                <a:alpha val="96000"/>
              </a:srgbClr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713232" y="414223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1915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0.9039</a:t>
            </a:r>
            <a:endParaRPr lang="en-US" sz="2200" dirty="0"/>
          </a:p>
        </p:txBody>
      </p:sp>
      <p:sp>
        <p:nvSpPr>
          <p:cNvPr id="80" name="Text 78"/>
          <p:cNvSpPr txBox="1"/>
          <p:nvPr/>
        </p:nvSpPr>
        <p:spPr>
          <a:xfrm>
            <a:off x="713232" y="472744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precision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13232" y="5184648"/>
            <a:ext cx="1600200" cy="0"/>
          </a:xfrm>
          <a:prstGeom prst="line">
            <a:avLst/>
          </a:prstGeom>
          <a:noFill/>
          <a:ln w="5715">
            <a:solidFill>
              <a:srgbClr val="E3D2C1">
                <a:alpha val="96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395728" y="3977640"/>
            <a:ext cx="1600200" cy="0"/>
          </a:xfrm>
          <a:prstGeom prst="line">
            <a:avLst/>
          </a:prstGeom>
          <a:noFill/>
          <a:ln w="8255">
            <a:solidFill>
              <a:srgbClr val="C8AD96">
                <a:alpha val="96000"/>
              </a:srgbClr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2395728" y="414223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1915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0.7624</a:t>
            </a:r>
            <a:endParaRPr lang="en-US" sz="2200" dirty="0"/>
          </a:p>
        </p:txBody>
      </p:sp>
      <p:sp>
        <p:nvSpPr>
          <p:cNvPr id="84" name="Text 82"/>
          <p:cNvSpPr txBox="1"/>
          <p:nvPr/>
        </p:nvSpPr>
        <p:spPr>
          <a:xfrm>
            <a:off x="2395728" y="472744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recall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2395728" y="5184648"/>
            <a:ext cx="1600200" cy="0"/>
          </a:xfrm>
          <a:prstGeom prst="line">
            <a:avLst/>
          </a:prstGeom>
          <a:noFill/>
          <a:ln w="5715">
            <a:solidFill>
              <a:srgbClr val="E3D2C1">
                <a:alpha val="96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078224" y="3977640"/>
            <a:ext cx="1600200" cy="0"/>
          </a:xfrm>
          <a:prstGeom prst="line">
            <a:avLst/>
          </a:prstGeom>
          <a:noFill/>
          <a:ln w="8255">
            <a:solidFill>
              <a:srgbClr val="C8AD96">
                <a:alpha val="96000"/>
              </a:srgbClr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4078224" y="414223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1915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0.5671</a:t>
            </a:r>
            <a:endParaRPr lang="en-US" sz="2200" dirty="0"/>
          </a:p>
        </p:txBody>
      </p:sp>
      <p:sp>
        <p:nvSpPr>
          <p:cNvPr id="88" name="Text 86"/>
          <p:cNvSpPr txBox="1"/>
          <p:nvPr/>
        </p:nvSpPr>
        <p:spPr>
          <a:xfrm>
            <a:off x="4078224" y="472744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PointMamba + mHC 短跑 mIoU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4078224" y="5184648"/>
            <a:ext cx="1600200" cy="0"/>
          </a:xfrm>
          <a:prstGeom prst="line">
            <a:avLst/>
          </a:prstGeom>
          <a:noFill/>
          <a:ln w="5715">
            <a:solidFill>
              <a:srgbClr val="E3D2C1">
                <a:alpha val="96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760720" y="3977640"/>
            <a:ext cx="1600200" cy="0"/>
          </a:xfrm>
          <a:prstGeom prst="line">
            <a:avLst/>
          </a:prstGeom>
          <a:noFill/>
          <a:ln w="8255">
            <a:solidFill>
              <a:srgbClr val="C8AD96">
                <a:alpha val="96000"/>
              </a:srgbClr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5760720" y="414223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11915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5000</a:t>
            </a:r>
            <a:endParaRPr lang="en-US" sz="2200" dirty="0"/>
          </a:p>
        </p:txBody>
      </p:sp>
      <p:sp>
        <p:nvSpPr>
          <p:cNvPr id="92" name="Text 90"/>
          <p:cNvSpPr txBox="1"/>
          <p:nvPr/>
        </p:nvSpPr>
        <p:spPr>
          <a:xfrm>
            <a:off x="5760720" y="472744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下一步目标合成场景规模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5760720" y="5184648"/>
            <a:ext cx="1600200" cy="0"/>
          </a:xfrm>
          <a:prstGeom prst="line">
            <a:avLst/>
          </a:prstGeom>
          <a:noFill/>
          <a:ln w="5715">
            <a:solidFill>
              <a:srgbClr val="E3D2C1">
                <a:alpha val="96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148840"/>
            <a:ext cx="0" cy="0"/>
          </a:xfrm>
          <a:prstGeom prst="line">
            <a:avLst/>
          </a:prstGeom>
          <a:noFill/>
          <a:ln w="8255">
            <a:solidFill>
              <a:srgbClr val="C8AD96">
                <a:alpha val="96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138160" y="2057400"/>
            <a:ext cx="0" cy="3566160"/>
          </a:xfrm>
          <a:prstGeom prst="line">
            <a:avLst/>
          </a:prstGeom>
          <a:noFill/>
          <a:ln w="8255">
            <a:solidFill>
              <a:srgbClr val="C8AD96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8375904" y="2148840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可以说：二分类路线已经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从“能不能学”进入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“如何提稳”。</a:t>
            </a:r>
            <a:endParaRPr lang="en-US" sz="1900" dirty="0"/>
          </a:p>
        </p:txBody>
      </p:sp>
      <p:sp>
        <p:nvSpPr>
          <p:cNvPr id="97" name="Text 95"/>
          <p:cNvSpPr txBox="1"/>
          <p:nvPr/>
        </p:nvSpPr>
        <p:spPr>
          <a:xfrm>
            <a:off x="8375904" y="327355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B2C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Swin3D 当前更稳；PointMamba 是轻量候选；mHC 在当前主线中保留为通道混合模块。</a:t>
            </a:r>
            <a:endParaRPr lang="en-US" sz="1200" dirty="0"/>
          </a:p>
        </p:txBody>
      </p:sp>
      <p:sp>
        <p:nvSpPr>
          <p:cNvPr id="98" name="Text 96"/>
          <p:cNvSpPr txBox="1"/>
          <p:nvPr/>
        </p:nvSpPr>
        <p:spPr>
          <a:xfrm>
            <a:off x="8375904" y="44988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47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边界：这些结果来自生成的小型验证 / 测试集，部分快速诊断 batch 很少，存在过拟合可能。</a:t>
            </a:r>
            <a:endParaRPr lang="en-US" sz="11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A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200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601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12801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16002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9202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2402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25603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28803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32004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35204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38404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1605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4805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8006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51206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54406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7607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60807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64008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67208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56032" y="228600"/>
            <a:ext cx="11686032" cy="6400800"/>
          </a:xfrm>
          <a:prstGeom prst="rect">
            <a:avLst/>
          </a:prstGeom>
          <a:solidFill>
            <a:srgbClr val="F5EADC">
              <a:alpha val="0"/>
            </a:srgbClr>
          </a:solidFill>
          <a:ln w="7620">
            <a:solidFill>
              <a:srgbClr val="E3D2C1">
                <a:alpha val="9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771632" y="6400800"/>
            <a:ext cx="548640" cy="0"/>
          </a:xfrm>
          <a:prstGeom prst="line">
            <a:avLst/>
          </a:prstGeom>
          <a:noFill/>
          <a:ln w="10160">
            <a:solidFill>
              <a:srgbClr val="C8AD96">
                <a:alpha val="94000"/>
              </a:srgbClr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1475720" y="63185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8675B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07</a:t>
            </a:r>
            <a:endParaRPr lang="en-US" sz="750" dirty="0"/>
          </a:p>
        </p:txBody>
      </p:sp>
      <p:sp>
        <p:nvSpPr>
          <p:cNvPr id="66" name="Text 64"/>
          <p:cNvSpPr txBox="1"/>
          <p:nvPr/>
        </p:nvSpPr>
        <p:spPr>
          <a:xfrm>
            <a:off x="713232" y="5029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07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1234440" y="5120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DOMAIN ADAPTATION BRANCH</a:t>
            </a:r>
            <a:endParaRPr lang="en-US" sz="960" dirty="0"/>
          </a:p>
        </p:txBody>
      </p:sp>
      <p:sp>
        <p:nvSpPr>
          <p:cNvPr id="68" name="Shape 66"/>
          <p:cNvSpPr/>
          <p:nvPr/>
        </p:nvSpPr>
        <p:spPr>
          <a:xfrm>
            <a:off x="1234440" y="649224"/>
            <a:ext cx="3566160" cy="0"/>
          </a:xfrm>
          <a:prstGeom prst="line">
            <a:avLst/>
          </a:prstGeom>
          <a:noFill/>
          <a:ln w="6985">
            <a:solidFill>
              <a:srgbClr val="C8AD96">
                <a:alpha val="90000"/>
              </a:srgbClr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13232" y="87782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GAN 和 end2end 是走向真实域的接口，不是当前主结果</a:t>
            </a:r>
            <a:endParaRPr lang="en-US" sz="2600" dirty="0"/>
          </a:p>
        </p:txBody>
      </p:sp>
      <p:sp>
        <p:nvSpPr>
          <p:cNvPr id="70" name="Text 68"/>
          <p:cNvSpPr txBox="1"/>
          <p:nvPr/>
        </p:nvSpPr>
        <p:spPr>
          <a:xfrm>
            <a:off x="713232" y="162763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代码中的 gan_enhanced / end2end 需要讲，但定位要准确：它们服务于合成到真实风格的域适配，主结果仍应先由稳定基线支撑。</a:t>
            </a:r>
            <a:endParaRPr lang="en-US" sz="1450" dirty="0"/>
          </a:p>
        </p:txBody>
      </p:sp>
      <p:sp>
        <p:nvSpPr>
          <p:cNvPr id="71" name="Shape 69"/>
          <p:cNvSpPr/>
          <p:nvPr/>
        </p:nvSpPr>
        <p:spPr>
          <a:xfrm>
            <a:off x="713232" y="2606040"/>
            <a:ext cx="5303520" cy="0"/>
          </a:xfrm>
          <a:prstGeom prst="line">
            <a:avLst/>
          </a:prstGeom>
          <a:noFill/>
          <a:ln w="12700">
            <a:solidFill>
              <a:srgbClr val="211915">
                <a:alpha val="96000"/>
              </a:srgbClr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13232" y="277977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MAINLINE FIRST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13232" y="3337560"/>
            <a:ext cx="1234440" cy="749808"/>
          </a:xfrm>
          <a:prstGeom prst="rect">
            <a:avLst/>
          </a:prstGeom>
          <a:solidFill>
            <a:srgbClr val="FBF6EE">
              <a:alpha val="80000"/>
            </a:srgbClr>
          </a:solidFill>
          <a:ln w="8255">
            <a:solidFill>
              <a:srgbClr val="C8AD96">
                <a:alpha val="94000"/>
              </a:srgbClr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850392" y="35295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1191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合成点云</a:t>
            </a:r>
            <a:endParaRPr lang="en-US" sz="1050" dirty="0"/>
          </a:p>
        </p:txBody>
      </p:sp>
      <p:sp>
        <p:nvSpPr>
          <p:cNvPr id="75" name="Text 73"/>
          <p:cNvSpPr txBox="1"/>
          <p:nvPr/>
        </p:nvSpPr>
        <p:spPr>
          <a:xfrm>
            <a:off x="850392" y="37673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可控几何和标签</a:t>
            </a:r>
            <a:endParaRPr lang="en-US" sz="820" dirty="0"/>
          </a:p>
        </p:txBody>
      </p:sp>
      <p:sp>
        <p:nvSpPr>
          <p:cNvPr id="76" name="Shape 74"/>
          <p:cNvSpPr/>
          <p:nvPr/>
        </p:nvSpPr>
        <p:spPr>
          <a:xfrm>
            <a:off x="2066544" y="3712464"/>
            <a:ext cx="310896" cy="0"/>
          </a:xfrm>
          <a:prstGeom prst="line">
            <a:avLst/>
          </a:prstGeom>
          <a:noFill/>
          <a:ln w="15240">
            <a:solidFill>
              <a:srgbClr val="DC8B67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2423160" y="3337560"/>
            <a:ext cx="1234440" cy="749808"/>
          </a:xfrm>
          <a:prstGeom prst="rect">
            <a:avLst/>
          </a:prstGeom>
          <a:solidFill>
            <a:srgbClr val="FBF6EE">
              <a:alpha val="80000"/>
            </a:srgbClr>
          </a:solidFill>
          <a:ln w="8255">
            <a:solidFill>
              <a:srgbClr val="C8AD96">
                <a:alpha val="94000"/>
              </a:srgbClr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2560320" y="35295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1191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稳定训练</a:t>
            </a:r>
            <a:endParaRPr lang="en-US" sz="1050" dirty="0"/>
          </a:p>
        </p:txBody>
      </p:sp>
      <p:sp>
        <p:nvSpPr>
          <p:cNvPr id="79" name="Text 77"/>
          <p:cNvSpPr txBox="1"/>
          <p:nvPr/>
        </p:nvSpPr>
        <p:spPr>
          <a:xfrm>
            <a:off x="2560320" y="37673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Swin3D + mHC 二分类</a:t>
            </a:r>
            <a:endParaRPr lang="en-US" sz="820" dirty="0"/>
          </a:p>
        </p:txBody>
      </p:sp>
      <p:sp>
        <p:nvSpPr>
          <p:cNvPr id="80" name="Shape 78"/>
          <p:cNvSpPr/>
          <p:nvPr/>
        </p:nvSpPr>
        <p:spPr>
          <a:xfrm>
            <a:off x="3776472" y="3712464"/>
            <a:ext cx="310896" cy="0"/>
          </a:xfrm>
          <a:prstGeom prst="line">
            <a:avLst/>
          </a:prstGeom>
          <a:noFill/>
          <a:ln w="15240">
            <a:solidFill>
              <a:srgbClr val="DC8B67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4389120" y="3337560"/>
            <a:ext cx="1234440" cy="749808"/>
          </a:xfrm>
          <a:prstGeom prst="rect">
            <a:avLst/>
          </a:prstGeom>
          <a:solidFill>
            <a:srgbClr val="FBF6EE">
              <a:alpha val="80000"/>
            </a:srgbClr>
          </a:solidFill>
          <a:ln w="8255">
            <a:solidFill>
              <a:srgbClr val="C8AD96">
                <a:alpha val="94000"/>
              </a:srgbClr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4526280" y="35295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1191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正式验证</a:t>
            </a:r>
            <a:endParaRPr lang="en-US" sz="1050" dirty="0"/>
          </a:p>
        </p:txBody>
      </p:sp>
      <p:sp>
        <p:nvSpPr>
          <p:cNvPr id="83" name="Text 81"/>
          <p:cNvSpPr txBox="1"/>
          <p:nvPr/>
        </p:nvSpPr>
        <p:spPr>
          <a:xfrm>
            <a:off x="4526280" y="37673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统一 global mIoU 口径</a:t>
            </a:r>
            <a:endParaRPr lang="en-US" sz="820" dirty="0"/>
          </a:p>
        </p:txBody>
      </p:sp>
      <p:sp>
        <p:nvSpPr>
          <p:cNvPr id="84" name="Shape 82"/>
          <p:cNvSpPr/>
          <p:nvPr/>
        </p:nvSpPr>
        <p:spPr>
          <a:xfrm>
            <a:off x="6656832" y="2606040"/>
            <a:ext cx="3291840" cy="0"/>
          </a:xfrm>
          <a:prstGeom prst="line">
            <a:avLst/>
          </a:prstGeom>
          <a:noFill/>
          <a:ln w="12700">
            <a:solidFill>
              <a:srgbClr val="211915">
                <a:alpha val="96000"/>
              </a:srgbClr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6656832" y="277977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FUTURE INTERFACE</a:t>
            </a:r>
            <a:endParaRPr lang="en-US" sz="850" dirty="0"/>
          </a:p>
        </p:txBody>
      </p:sp>
      <p:sp>
        <p:nvSpPr>
          <p:cNvPr id="86" name="Text 84"/>
          <p:cNvSpPr txBox="1"/>
          <p:nvPr/>
        </p:nvSpPr>
        <p:spPr>
          <a:xfrm>
            <a:off x="6656832" y="3310128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B2C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StyleTransferGen 对坐标和法向量做风格残差调整。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6656832" y="3621024"/>
            <a:ext cx="2926080" cy="0"/>
          </a:xfrm>
          <a:prstGeom prst="line">
            <a:avLst/>
          </a:prstGeom>
          <a:noFill/>
          <a:ln w="5334">
            <a:solidFill>
              <a:srgbClr val="E3D2C1">
                <a:alpha val="96000"/>
              </a:srgbClr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656832" y="3813048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B2C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WGAN 判别器判断点云风格是否更接近目标域。</a:t>
            </a:r>
            <a:endParaRPr lang="en-US" sz="1150" dirty="0"/>
          </a:p>
        </p:txBody>
      </p:sp>
      <p:sp>
        <p:nvSpPr>
          <p:cNvPr id="89" name="Shape 87"/>
          <p:cNvSpPr/>
          <p:nvPr/>
        </p:nvSpPr>
        <p:spPr>
          <a:xfrm>
            <a:off x="6656832" y="4123944"/>
            <a:ext cx="2926080" cy="0"/>
          </a:xfrm>
          <a:prstGeom prst="line">
            <a:avLst/>
          </a:prstGeom>
          <a:noFill/>
          <a:ln w="5334">
            <a:solidFill>
              <a:srgbClr val="E3D2C1">
                <a:alpha val="96000"/>
              </a:srgbClr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6656832" y="4315968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B2C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end2end 把风格调整与分割训练放入同一循环。</a:t>
            </a:r>
            <a:endParaRPr lang="en-US" sz="1150" dirty="0"/>
          </a:p>
        </p:txBody>
      </p:sp>
      <p:sp>
        <p:nvSpPr>
          <p:cNvPr id="91" name="Shape 89"/>
          <p:cNvSpPr/>
          <p:nvPr/>
        </p:nvSpPr>
        <p:spPr>
          <a:xfrm>
            <a:off x="6656832" y="4626864"/>
            <a:ext cx="2926080" cy="0"/>
          </a:xfrm>
          <a:prstGeom prst="line">
            <a:avLst/>
          </a:prstGeom>
          <a:noFill/>
          <a:ln w="5334">
            <a:solidFill>
              <a:srgbClr val="E3D2C1">
                <a:alpha val="96000"/>
              </a:srgbClr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6656832" y="4818888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B2C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主线稳定后，再用它验证合成到真实的域适配能力。</a:t>
            </a:r>
            <a:endParaRPr lang="en-US" sz="1150" dirty="0"/>
          </a:p>
        </p:txBody>
      </p:sp>
      <p:sp>
        <p:nvSpPr>
          <p:cNvPr id="93" name="Shape 91"/>
          <p:cNvSpPr/>
          <p:nvPr/>
        </p:nvSpPr>
        <p:spPr>
          <a:xfrm>
            <a:off x="6656832" y="5129784"/>
            <a:ext cx="2926080" cy="0"/>
          </a:xfrm>
          <a:prstGeom prst="line">
            <a:avLst/>
          </a:prstGeom>
          <a:noFill/>
          <a:ln w="5334">
            <a:solidFill>
              <a:srgbClr val="E3D2C1">
                <a:alpha val="96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A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200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601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12801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16002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9202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2402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25603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28803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32004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35204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38404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1605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4805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8006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51206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54406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7607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60807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64008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67208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56032" y="228600"/>
            <a:ext cx="11686032" cy="6400800"/>
          </a:xfrm>
          <a:prstGeom prst="rect">
            <a:avLst/>
          </a:prstGeom>
          <a:solidFill>
            <a:srgbClr val="F5EADC">
              <a:alpha val="0"/>
            </a:srgbClr>
          </a:solidFill>
          <a:ln w="7620">
            <a:solidFill>
              <a:srgbClr val="E3D2C1">
                <a:alpha val="9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771632" y="6400800"/>
            <a:ext cx="548640" cy="0"/>
          </a:xfrm>
          <a:prstGeom prst="line">
            <a:avLst/>
          </a:prstGeom>
          <a:noFill/>
          <a:ln w="10160">
            <a:solidFill>
              <a:srgbClr val="C8AD96">
                <a:alpha val="94000"/>
              </a:srgbClr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1475720" y="63185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8675B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08</a:t>
            </a:r>
            <a:endParaRPr lang="en-US" sz="750" dirty="0"/>
          </a:p>
        </p:txBody>
      </p:sp>
      <p:sp>
        <p:nvSpPr>
          <p:cNvPr id="66" name="Text 64"/>
          <p:cNvSpPr txBox="1"/>
          <p:nvPr/>
        </p:nvSpPr>
        <p:spPr>
          <a:xfrm>
            <a:off x="713232" y="5029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08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1234440" y="5120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RESEARCH RISKS</a:t>
            </a:r>
            <a:endParaRPr lang="en-US" sz="960" dirty="0"/>
          </a:p>
        </p:txBody>
      </p:sp>
      <p:sp>
        <p:nvSpPr>
          <p:cNvPr id="68" name="Shape 66"/>
          <p:cNvSpPr/>
          <p:nvPr/>
        </p:nvSpPr>
        <p:spPr>
          <a:xfrm>
            <a:off x="1234440" y="649224"/>
            <a:ext cx="3566160" cy="0"/>
          </a:xfrm>
          <a:prstGeom prst="line">
            <a:avLst/>
          </a:prstGeom>
          <a:noFill/>
          <a:ln w="6985">
            <a:solidFill>
              <a:srgbClr val="C8AD96">
                <a:alpha val="90000"/>
              </a:srgbClr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13232" y="877824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现在最该补的不是继续堆模块，而是扩大验证和统一口径</a:t>
            </a:r>
            <a:endParaRPr lang="en-US" sz="2800" dirty="0"/>
          </a:p>
        </p:txBody>
      </p:sp>
      <p:sp>
        <p:nvSpPr>
          <p:cNvPr id="70" name="Text 68"/>
          <p:cNvSpPr txBox="1"/>
          <p:nvPr/>
        </p:nvSpPr>
        <p:spPr>
          <a:xfrm>
            <a:off x="713232" y="170078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项目已经跑通主线，但要往论文或比赛成果推进，必须先解决可信度问题。</a:t>
            </a:r>
            <a:endParaRPr lang="en-US" sz="1450" dirty="0"/>
          </a:p>
        </p:txBody>
      </p:sp>
      <p:sp>
        <p:nvSpPr>
          <p:cNvPr id="71" name="Shape 69"/>
          <p:cNvSpPr/>
          <p:nvPr/>
        </p:nvSpPr>
        <p:spPr>
          <a:xfrm>
            <a:off x="713232" y="2697480"/>
            <a:ext cx="2212848" cy="0"/>
          </a:xfrm>
          <a:prstGeom prst="line">
            <a:avLst/>
          </a:prstGeom>
          <a:noFill/>
          <a:ln w="12700">
            <a:solidFill>
              <a:srgbClr val="211915">
                <a:alpha val="96000"/>
              </a:srgbClr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13232" y="294436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01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713232" y="35295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数据规模</a:t>
            </a:r>
            <a:endParaRPr lang="en-US" sz="1750" dirty="0"/>
          </a:p>
        </p:txBody>
      </p:sp>
      <p:sp>
        <p:nvSpPr>
          <p:cNvPr id="74" name="Text 72"/>
          <p:cNvSpPr txBox="1"/>
          <p:nvPr/>
        </p:nvSpPr>
        <p:spPr>
          <a:xfrm>
            <a:off x="713232" y="409651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小型合成验证集容易让模型在少数 batch 上过拟合。</a:t>
            </a:r>
            <a:endParaRPr lang="en-US" sz="1120" dirty="0"/>
          </a:p>
        </p:txBody>
      </p:sp>
      <p:sp>
        <p:nvSpPr>
          <p:cNvPr id="75" name="Shape 73"/>
          <p:cNvSpPr/>
          <p:nvPr/>
        </p:nvSpPr>
        <p:spPr>
          <a:xfrm>
            <a:off x="713232" y="4956048"/>
            <a:ext cx="1920240" cy="0"/>
          </a:xfrm>
          <a:prstGeom prst="line">
            <a:avLst/>
          </a:prstGeom>
          <a:noFill/>
          <a:ln w="5715">
            <a:solidFill>
              <a:srgbClr val="C8AD96">
                <a:alpha val="96000"/>
              </a:srgbClr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13232" y="51389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A947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扩大到约 5000 个合成场景，固定生成元数据。</a:t>
            </a:r>
            <a:endParaRPr lang="en-US" sz="1030" dirty="0"/>
          </a:p>
        </p:txBody>
      </p:sp>
      <p:sp>
        <p:nvSpPr>
          <p:cNvPr id="77" name="Shape 75"/>
          <p:cNvSpPr/>
          <p:nvPr/>
        </p:nvSpPr>
        <p:spPr>
          <a:xfrm>
            <a:off x="3456432" y="2697480"/>
            <a:ext cx="2212848" cy="0"/>
          </a:xfrm>
          <a:prstGeom prst="line">
            <a:avLst/>
          </a:prstGeom>
          <a:noFill/>
          <a:ln w="12700">
            <a:solidFill>
              <a:srgbClr val="211915">
                <a:alpha val="96000"/>
              </a:srgbClr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3456432" y="294436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02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3456432" y="35295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评估口径</a:t>
            </a:r>
            <a:endParaRPr lang="en-US" sz="1750" dirty="0"/>
          </a:p>
        </p:txBody>
      </p:sp>
      <p:sp>
        <p:nvSpPr>
          <p:cNvPr id="80" name="Text 78"/>
          <p:cNvSpPr txBox="1"/>
          <p:nvPr/>
        </p:nvSpPr>
        <p:spPr>
          <a:xfrm>
            <a:off x="3456432" y="409651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batch mean mIoU 与全验证集 global mIoU 需要统一记录。</a:t>
            </a:r>
            <a:endParaRPr lang="en-US" sz="1120" dirty="0"/>
          </a:p>
        </p:txBody>
      </p:sp>
      <p:sp>
        <p:nvSpPr>
          <p:cNvPr id="81" name="Shape 79"/>
          <p:cNvSpPr/>
          <p:nvPr/>
        </p:nvSpPr>
        <p:spPr>
          <a:xfrm>
            <a:off x="3456432" y="4956048"/>
            <a:ext cx="1920240" cy="0"/>
          </a:xfrm>
          <a:prstGeom prst="line">
            <a:avLst/>
          </a:prstGeom>
          <a:noFill/>
          <a:ln w="5715">
            <a:solidFill>
              <a:srgbClr val="C8AD96">
                <a:alpha val="96000"/>
              </a:srgbClr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3456432" y="51389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A947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保存 global mIoU、disease IoU、precision、recall。</a:t>
            </a:r>
            <a:endParaRPr lang="en-US" sz="1030" dirty="0"/>
          </a:p>
        </p:txBody>
      </p:sp>
      <p:sp>
        <p:nvSpPr>
          <p:cNvPr id="83" name="Shape 81"/>
          <p:cNvSpPr/>
          <p:nvPr/>
        </p:nvSpPr>
        <p:spPr>
          <a:xfrm>
            <a:off x="6199632" y="2697480"/>
            <a:ext cx="2212848" cy="0"/>
          </a:xfrm>
          <a:prstGeom prst="line">
            <a:avLst/>
          </a:prstGeom>
          <a:noFill/>
          <a:ln w="12700">
            <a:solidFill>
              <a:srgbClr val="211915">
                <a:alpha val="96000"/>
              </a:srgbClr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6199632" y="294436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03</a:t>
            </a:r>
            <a:endParaRPr 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6199632" y="35295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38 类迁移</a:t>
            </a:r>
            <a:endParaRPr lang="en-US" sz="1750" dirty="0"/>
          </a:p>
        </p:txBody>
      </p:sp>
      <p:sp>
        <p:nvSpPr>
          <p:cNvPr id="86" name="Text 84"/>
          <p:cNvSpPr txBox="1"/>
          <p:nvPr/>
        </p:nvSpPr>
        <p:spPr>
          <a:xfrm>
            <a:off x="6199632" y="409651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从二分类直接跳到 38 类过陡，类别长尾会放大不稳定。</a:t>
            </a:r>
            <a:endParaRPr lang="en-US" sz="1120" dirty="0"/>
          </a:p>
        </p:txBody>
      </p:sp>
      <p:sp>
        <p:nvSpPr>
          <p:cNvPr id="87" name="Shape 85"/>
          <p:cNvSpPr/>
          <p:nvPr/>
        </p:nvSpPr>
        <p:spPr>
          <a:xfrm>
            <a:off x="6199632" y="4956048"/>
            <a:ext cx="1920240" cy="0"/>
          </a:xfrm>
          <a:prstGeom prst="line">
            <a:avLst/>
          </a:prstGeom>
          <a:noFill/>
          <a:ln w="5715">
            <a:solidFill>
              <a:srgbClr val="C8AD96">
                <a:alpha val="96000"/>
              </a:srgbClr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199632" y="51389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A947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二分类 → 高频子类 → 38 类，分阶段迁移。</a:t>
            </a:r>
            <a:endParaRPr lang="en-US" sz="1030" dirty="0"/>
          </a:p>
        </p:txBody>
      </p:sp>
      <p:sp>
        <p:nvSpPr>
          <p:cNvPr id="89" name="Shape 87"/>
          <p:cNvSpPr/>
          <p:nvPr/>
        </p:nvSpPr>
        <p:spPr>
          <a:xfrm>
            <a:off x="8942832" y="2697480"/>
            <a:ext cx="2212848" cy="0"/>
          </a:xfrm>
          <a:prstGeom prst="line">
            <a:avLst/>
          </a:prstGeom>
          <a:noFill/>
          <a:ln w="12700">
            <a:solidFill>
              <a:srgbClr val="211915">
                <a:alpha val="96000"/>
              </a:srgbClr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8942832" y="294436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04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8942832" y="35295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真实域差异</a:t>
            </a:r>
            <a:endParaRPr lang="en-US" sz="1750" dirty="0"/>
          </a:p>
        </p:txBody>
      </p:sp>
      <p:sp>
        <p:nvSpPr>
          <p:cNvPr id="92" name="Text 90"/>
          <p:cNvSpPr txBox="1"/>
          <p:nvPr/>
        </p:nvSpPr>
        <p:spPr>
          <a:xfrm>
            <a:off x="8942832" y="409651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真实点云噪声、密度和采集角度仍未形成正式闭环。</a:t>
            </a:r>
            <a:endParaRPr lang="en-US" sz="1120" dirty="0"/>
          </a:p>
        </p:txBody>
      </p:sp>
      <p:sp>
        <p:nvSpPr>
          <p:cNvPr id="93" name="Shape 91"/>
          <p:cNvSpPr/>
          <p:nvPr/>
        </p:nvSpPr>
        <p:spPr>
          <a:xfrm>
            <a:off x="8942832" y="4956048"/>
            <a:ext cx="1920240" cy="0"/>
          </a:xfrm>
          <a:prstGeom prst="line">
            <a:avLst/>
          </a:prstGeom>
          <a:noFill/>
          <a:ln w="5715">
            <a:solidFill>
              <a:srgbClr val="C8AD96">
                <a:alpha val="96000"/>
              </a:srgbClr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8942832" y="51389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A9472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主线稳定后，再接 GAN / end2end 和真实点云验证。</a:t>
            </a:r>
            <a:endParaRPr lang="en-US" sz="10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A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11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212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0140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84148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161520" y="0"/>
            <a:ext cx="0" cy="685800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200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9601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12801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16002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9202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2402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25603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28803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32004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35204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38404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1605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4805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8006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51206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544068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76072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608076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640080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6720840"/>
            <a:ext cx="12192000" cy="0"/>
          </a:xfrm>
          <a:prstGeom prst="line">
            <a:avLst/>
          </a:prstGeom>
          <a:noFill/>
          <a:ln w="4445">
            <a:solidFill>
              <a:srgbClr val="EADFD2">
                <a:alpha val="64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56032" y="228600"/>
            <a:ext cx="11686032" cy="6400800"/>
          </a:xfrm>
          <a:prstGeom prst="rect">
            <a:avLst/>
          </a:prstGeom>
          <a:solidFill>
            <a:srgbClr val="F5EADC">
              <a:alpha val="0"/>
            </a:srgbClr>
          </a:solidFill>
          <a:ln w="7620">
            <a:solidFill>
              <a:srgbClr val="E3D2C1">
                <a:alpha val="9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771632" y="6400800"/>
            <a:ext cx="548640" cy="0"/>
          </a:xfrm>
          <a:prstGeom prst="line">
            <a:avLst/>
          </a:prstGeom>
          <a:noFill/>
          <a:ln w="10160">
            <a:solidFill>
              <a:srgbClr val="C8AD96">
                <a:alpha val="94000"/>
              </a:srgbClr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1475720" y="63185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8675B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09</a:t>
            </a:r>
            <a:endParaRPr lang="en-US" sz="750" dirty="0"/>
          </a:p>
        </p:txBody>
      </p:sp>
      <p:sp>
        <p:nvSpPr>
          <p:cNvPr id="66" name="Text 64"/>
          <p:cNvSpPr txBox="1"/>
          <p:nvPr/>
        </p:nvSpPr>
        <p:spPr>
          <a:xfrm>
            <a:off x="713232" y="5029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09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1234440" y="5120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ADVISOR DISCUSSION</a:t>
            </a:r>
            <a:endParaRPr lang="en-US" sz="960" dirty="0"/>
          </a:p>
        </p:txBody>
      </p:sp>
      <p:sp>
        <p:nvSpPr>
          <p:cNvPr id="68" name="Shape 66"/>
          <p:cNvSpPr/>
          <p:nvPr/>
        </p:nvSpPr>
        <p:spPr>
          <a:xfrm>
            <a:off x="1234440" y="649224"/>
            <a:ext cx="3566160" cy="0"/>
          </a:xfrm>
          <a:prstGeom prst="line">
            <a:avLst/>
          </a:prstGeom>
          <a:noFill/>
          <a:ln w="6985">
            <a:solidFill>
              <a:srgbClr val="C8AD96">
                <a:alpha val="90000"/>
              </a:srgbClr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13232" y="877824"/>
            <a:ext cx="7955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下一阶段围绕“扩数据、稳基线、分阶段多类”推进</a:t>
            </a:r>
            <a:endParaRPr lang="en-US" sz="2800" dirty="0"/>
          </a:p>
        </p:txBody>
      </p:sp>
      <p:sp>
        <p:nvSpPr>
          <p:cNvPr id="70" name="Shape 68"/>
          <p:cNvSpPr/>
          <p:nvPr/>
        </p:nvSpPr>
        <p:spPr>
          <a:xfrm>
            <a:off x="713232" y="2148840"/>
            <a:ext cx="6629400" cy="0"/>
          </a:xfrm>
          <a:prstGeom prst="line">
            <a:avLst/>
          </a:prstGeom>
          <a:noFill/>
          <a:ln w="12700">
            <a:solidFill>
              <a:srgbClr val="211915">
                <a:alpha val="96000"/>
              </a:srgbClr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13232" y="243230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01</a:t>
            </a:r>
            <a:endParaRPr lang="en-US" sz="900" dirty="0"/>
          </a:p>
        </p:txBody>
      </p:sp>
      <p:sp>
        <p:nvSpPr>
          <p:cNvPr id="72" name="Text 70"/>
          <p:cNvSpPr txBox="1"/>
          <p:nvPr/>
        </p:nvSpPr>
        <p:spPr>
          <a:xfrm>
            <a:off x="1325880" y="241401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1191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扩大合成数据</a:t>
            </a:r>
            <a:endParaRPr lang="en-US" sz="1220" dirty="0"/>
          </a:p>
        </p:txBody>
      </p:sp>
      <p:sp>
        <p:nvSpPr>
          <p:cNvPr id="73" name="Text 71"/>
          <p:cNvSpPr txBox="1"/>
          <p:nvPr/>
        </p:nvSpPr>
        <p:spPr>
          <a:xfrm>
            <a:off x="3794760" y="24140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目标约 5000 个场景，优先保证可恢复生成、分批执行和统一元数据。</a:t>
            </a:r>
            <a:endParaRPr lang="en-US" sz="960" dirty="0"/>
          </a:p>
        </p:txBody>
      </p:sp>
      <p:sp>
        <p:nvSpPr>
          <p:cNvPr id="74" name="Shape 72"/>
          <p:cNvSpPr/>
          <p:nvPr/>
        </p:nvSpPr>
        <p:spPr>
          <a:xfrm>
            <a:off x="713232" y="2825496"/>
            <a:ext cx="6629400" cy="0"/>
          </a:xfrm>
          <a:prstGeom prst="line">
            <a:avLst/>
          </a:prstGeom>
          <a:noFill/>
          <a:ln w="5334">
            <a:solidFill>
              <a:srgbClr val="E3D2C1">
                <a:alpha val="96000"/>
              </a:srgbClr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13232" y="313639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02</a:t>
            </a:r>
            <a:endParaRPr lang="en-US" sz="900" dirty="0"/>
          </a:p>
        </p:txBody>
      </p:sp>
      <p:sp>
        <p:nvSpPr>
          <p:cNvPr id="76" name="Text 74"/>
          <p:cNvSpPr txBox="1"/>
          <p:nvPr/>
        </p:nvSpPr>
        <p:spPr>
          <a:xfrm>
            <a:off x="1325880" y="311810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1191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重做正式验证</a:t>
            </a:r>
            <a:endParaRPr lang="en-US" sz="1220" dirty="0"/>
          </a:p>
        </p:txBody>
      </p:sp>
      <p:sp>
        <p:nvSpPr>
          <p:cNvPr id="77" name="Text 75"/>
          <p:cNvSpPr txBox="1"/>
          <p:nvPr/>
        </p:nvSpPr>
        <p:spPr>
          <a:xfrm>
            <a:off x="3794760" y="3118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固定 Swin3D + mHC 二分类基线，统一 global mIoU、disease IoU、precision、recall。</a:t>
            </a:r>
            <a:endParaRPr lang="en-US" sz="960" dirty="0"/>
          </a:p>
        </p:txBody>
      </p:sp>
      <p:sp>
        <p:nvSpPr>
          <p:cNvPr id="78" name="Shape 76"/>
          <p:cNvSpPr/>
          <p:nvPr/>
        </p:nvSpPr>
        <p:spPr>
          <a:xfrm>
            <a:off x="713232" y="3529584"/>
            <a:ext cx="6629400" cy="0"/>
          </a:xfrm>
          <a:prstGeom prst="line">
            <a:avLst/>
          </a:prstGeom>
          <a:noFill/>
          <a:ln w="5334">
            <a:solidFill>
              <a:srgbClr val="E3D2C1">
                <a:alpha val="96000"/>
              </a:srgbClr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713232" y="384048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03</a:t>
            </a:r>
            <a:endParaRPr lang="en-US" sz="900" dirty="0"/>
          </a:p>
        </p:txBody>
      </p:sp>
      <p:sp>
        <p:nvSpPr>
          <p:cNvPr id="80" name="Text 78"/>
          <p:cNvSpPr txBox="1"/>
          <p:nvPr/>
        </p:nvSpPr>
        <p:spPr>
          <a:xfrm>
            <a:off x="1325880" y="38221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1191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分阶段回到 38 类</a:t>
            </a:r>
            <a:endParaRPr lang="en-US" sz="1220" dirty="0"/>
          </a:p>
        </p:txBody>
      </p:sp>
      <p:sp>
        <p:nvSpPr>
          <p:cNvPr id="81" name="Text 79"/>
          <p:cNvSpPr txBox="1"/>
          <p:nvPr/>
        </p:nvSpPr>
        <p:spPr>
          <a:xfrm>
            <a:off x="3794760" y="3822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二分类 → 高频子类 / 4-8 类 → 38 类，避免冷启动直接塌缩。</a:t>
            </a:r>
            <a:endParaRPr lang="en-US" sz="960" dirty="0"/>
          </a:p>
        </p:txBody>
      </p:sp>
      <p:sp>
        <p:nvSpPr>
          <p:cNvPr id="82" name="Shape 80"/>
          <p:cNvSpPr/>
          <p:nvPr/>
        </p:nvSpPr>
        <p:spPr>
          <a:xfrm>
            <a:off x="713232" y="4233672"/>
            <a:ext cx="6629400" cy="0"/>
          </a:xfrm>
          <a:prstGeom prst="line">
            <a:avLst/>
          </a:prstGeom>
          <a:noFill/>
          <a:ln w="5334">
            <a:solidFill>
              <a:srgbClr val="E3D2C1">
                <a:alpha val="96000"/>
              </a:srgbClr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13232" y="454456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472C"/>
                </a:solidFill>
                <a:latin typeface="Styrene A Web" pitchFamily="34" charset="0"/>
                <a:ea typeface="Styrene A Web" pitchFamily="34" charset="-122"/>
                <a:cs typeface="Styrene A Web" pitchFamily="34" charset="-120"/>
              </a:rPr>
              <a:t>04</a:t>
            </a:r>
            <a:endParaRPr lang="en-US" sz="900" dirty="0"/>
          </a:p>
        </p:txBody>
      </p:sp>
      <p:sp>
        <p:nvSpPr>
          <p:cNvPr id="84" name="Text 82"/>
          <p:cNvSpPr txBox="1"/>
          <p:nvPr/>
        </p:nvSpPr>
        <p:spPr>
          <a:xfrm>
            <a:off x="1325880" y="45262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1191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再接真实域</a:t>
            </a:r>
            <a:endParaRPr lang="en-US" sz="1220" dirty="0"/>
          </a:p>
        </p:txBody>
      </p:sp>
      <p:sp>
        <p:nvSpPr>
          <p:cNvPr id="85" name="Text 83"/>
          <p:cNvSpPr txBox="1"/>
          <p:nvPr/>
        </p:nvSpPr>
        <p:spPr>
          <a:xfrm>
            <a:off x="3794760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78675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主线稳定后，再接 GAN / end2end 和真实点云验证。</a:t>
            </a:r>
            <a:endParaRPr lang="en-US" sz="960" dirty="0"/>
          </a:p>
        </p:txBody>
      </p:sp>
      <p:sp>
        <p:nvSpPr>
          <p:cNvPr id="86" name="Shape 84"/>
          <p:cNvSpPr/>
          <p:nvPr/>
        </p:nvSpPr>
        <p:spPr>
          <a:xfrm>
            <a:off x="713232" y="4937760"/>
            <a:ext cx="6629400" cy="0"/>
          </a:xfrm>
          <a:prstGeom prst="line">
            <a:avLst/>
          </a:prstGeom>
          <a:noFill/>
          <a:ln w="5334">
            <a:solidFill>
              <a:srgbClr val="E3D2C1">
                <a:alpha val="96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955280" y="2084832"/>
            <a:ext cx="3154680" cy="3246120"/>
          </a:xfrm>
          <a:prstGeom prst="rect">
            <a:avLst/>
          </a:prstGeom>
          <a:solidFill>
            <a:srgbClr val="FBF6EE">
              <a:alpha val="84000"/>
            </a:srgbClr>
          </a:solidFill>
          <a:ln w="8255">
            <a:solidFill>
              <a:srgbClr val="C8AD96">
                <a:alpha val="94000"/>
              </a:srgbClr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8211312" y="23591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21191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希望导师判断的核心问题</a:t>
            </a:r>
            <a:endParaRPr lang="en-US" sz="1750" dirty="0"/>
          </a:p>
        </p:txBody>
      </p:sp>
      <p:sp>
        <p:nvSpPr>
          <p:cNvPr id="89" name="Text 87"/>
          <p:cNvSpPr txBox="1"/>
          <p:nvPr/>
        </p:nvSpPr>
        <p:spPr>
          <a:xfrm>
            <a:off x="8211312" y="290779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B2C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这个项目下一步优先按论文路线推进，还是先按比赛 / 演示路线包装？两条路线需要不同的验证密度和交付重点。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8211312" y="3931920"/>
            <a:ext cx="2468880" cy="0"/>
          </a:xfrm>
          <a:prstGeom prst="line">
            <a:avLst/>
          </a:prstGeom>
          <a:noFill/>
          <a:ln w="6985">
            <a:solidFill>
              <a:srgbClr val="C8AD96">
                <a:alpha val="96000"/>
              </a:srgbClr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8211312" y="413308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B2C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论文路线：强调方法闭环、消融、数据规模和泛化验证。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8211312" y="4480560"/>
            <a:ext cx="2468880" cy="0"/>
          </a:xfrm>
          <a:prstGeom prst="line">
            <a:avLst/>
          </a:prstGeom>
          <a:noFill/>
          <a:ln w="6985">
            <a:solidFill>
              <a:srgbClr val="C8AD96">
                <a:alpha val="96000"/>
              </a:srgbClr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8211312" y="468172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B2C2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 展示路线：强调可视化、稳定 demo、生成样例和端到端流程。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RoadMC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RoadMC 导师汇报可编辑版</dc:title>
  <dc:subject>RoadMC 导师汇报可编辑版</dc:subject>
  <dc:creator>Codex</dc:creator>
  <cp:lastModifiedBy>Codex</cp:lastModifiedBy>
  <cp:revision>1</cp:revision>
  <dcterms:created xsi:type="dcterms:W3CDTF">2026-07-05T12:08:29Z</dcterms:created>
  <dcterms:modified xsi:type="dcterms:W3CDTF">2026-07-05T12:08:29Z</dcterms:modified>
</cp:coreProperties>
</file>