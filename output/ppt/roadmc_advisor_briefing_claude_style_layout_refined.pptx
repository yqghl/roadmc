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a3d1370e44b84" /><Relationship Type="http://schemas.openxmlformats.org/officeDocument/2006/relationships/extended-properties" Target="/docProps/app.xml" Id="Rd428778edd29497c" /><Relationship Type="http://schemas.openxmlformats.org/officeDocument/2006/relationships/officeDocument" Target="/ppt/presentation.xml" Id="Rfc66b3f913624e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bf614ffe24a73"/>
  </p:sldMasterIdLst>
  <p:notesMasterIdLst>
    <p:notesMasterId xmlns:r="http://schemas.openxmlformats.org/officeDocument/2006/relationships" r:id="R498e0d32a6f04b7a"/>
  </p:notesMasterIdLst>
  <p:sldIdLst>
    <p:sldId xmlns:r="http://schemas.openxmlformats.org/officeDocument/2006/relationships" id="256" r:id="R60713e99ea7a4493"/>
    <p:sldId xmlns:r="http://schemas.openxmlformats.org/officeDocument/2006/relationships" id="257" r:id="R22903ede0003427a"/>
    <p:sldId xmlns:r="http://schemas.openxmlformats.org/officeDocument/2006/relationships" id="258" r:id="R29dcf5b3877440f8"/>
    <p:sldId xmlns:r="http://schemas.openxmlformats.org/officeDocument/2006/relationships" id="259" r:id="R0182d3d6c7164c69"/>
    <p:sldId xmlns:r="http://schemas.openxmlformats.org/officeDocument/2006/relationships" id="260" r:id="R6bc970cc85c44d2b"/>
    <p:sldId xmlns:r="http://schemas.openxmlformats.org/officeDocument/2006/relationships" id="261" r:id="R9877b2e96215499e"/>
    <p:sldId xmlns:r="http://schemas.openxmlformats.org/officeDocument/2006/relationships" id="262" r:id="Rbd561a6038334de7"/>
    <p:sldId xmlns:r="http://schemas.openxmlformats.org/officeDocument/2006/relationships" id="263" r:id="R95503c03a8b547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17c1a931954441" /><Relationship Type="http://schemas.openxmlformats.org/officeDocument/2006/relationships/slideMaster" Target="/ppt/slideMasters/slideMaster1.xml" Id="R10fbf614ffe24a73" /><Relationship Type="http://schemas.openxmlformats.org/officeDocument/2006/relationships/notesMaster" Target="/ppt/notesMasters/notesMaster1.xml" Id="R498e0d32a6f04b7a" /><Relationship Type="http://schemas.openxmlformats.org/officeDocument/2006/relationships/presProps" Target="/ppt/presProps.xml" Id="R775199c2f3f14188" /><Relationship Type="http://schemas.openxmlformats.org/officeDocument/2006/relationships/tableStyles" Target="/ppt/tableStyles.xml" Id="R4886f8ab9c5f41cf" /><Relationship Type="http://schemas.openxmlformats.org/officeDocument/2006/relationships/slide" Target="/ppt/slides/slide1.xml" Id="R60713e99ea7a4493" /><Relationship Type="http://schemas.openxmlformats.org/officeDocument/2006/relationships/slide" Target="/ppt/slides/slide2.xml" Id="R22903ede0003427a" /><Relationship Type="http://schemas.openxmlformats.org/officeDocument/2006/relationships/slide" Target="/ppt/slides/slide3.xml" Id="R29dcf5b3877440f8" /><Relationship Type="http://schemas.openxmlformats.org/officeDocument/2006/relationships/slide" Target="/ppt/slides/slide4.xml" Id="R0182d3d6c7164c69" /><Relationship Type="http://schemas.openxmlformats.org/officeDocument/2006/relationships/slide" Target="/ppt/slides/slide5.xml" Id="R6bc970cc85c44d2b" /><Relationship Type="http://schemas.openxmlformats.org/officeDocument/2006/relationships/slide" Target="/ppt/slides/slide6.xml" Id="R9877b2e96215499e" /><Relationship Type="http://schemas.openxmlformats.org/officeDocument/2006/relationships/slide" Target="/ppt/slides/slide7.xml" Id="Rbd561a6038334de7" /><Relationship Type="http://schemas.openxmlformats.org/officeDocument/2006/relationships/slide" Target="/ppt/slides/slide8.xml" Id="R95503c03a8b547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a51844a92749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290569becd4f69" /><Relationship Type="http://schemas.openxmlformats.org/officeDocument/2006/relationships/notesMaster" Target="/ppt/notesMasters/notesMaster1.xml" Id="R6f44f593963f46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10381dd71149d9" /><Relationship Type="http://schemas.openxmlformats.org/officeDocument/2006/relationships/notesMaster" Target="/ppt/notesMasters/notesMaster1.xml" Id="Rbc118aee78a64f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a0bbea25474838" /><Relationship Type="http://schemas.openxmlformats.org/officeDocument/2006/relationships/notesMaster" Target="/ppt/notesMasters/notesMaster1.xml" Id="R60ffa57035fe46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870cad93f5458e" /><Relationship Type="http://schemas.openxmlformats.org/officeDocument/2006/relationships/notesMaster" Target="/ppt/notesMasters/notesMaster1.xml" Id="Rbfbe111a8f21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41782d3c54048" /><Relationship Type="http://schemas.openxmlformats.org/officeDocument/2006/relationships/notesMaster" Target="/ppt/notesMasters/notesMaster1.xml" Id="R2e16b4f3d0654b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7589e728074716" /><Relationship Type="http://schemas.openxmlformats.org/officeDocument/2006/relationships/notesMaster" Target="/ppt/notesMasters/notesMaster1.xml" Id="Rf14c309374974b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c720905fb4f9c" /><Relationship Type="http://schemas.openxmlformats.org/officeDocument/2006/relationships/notesMaster" Target="/ppt/notesMasters/notesMaster1.xml" Id="R4dc719da9f6c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8c72ecbdc9414a" /><Relationship Type="http://schemas.openxmlformats.org/officeDocument/2006/relationships/notesMaster" Target="/ppt/notesMasters/notesMaster1.xml" Id="R26ca4705d8e744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开场先说项目定位：不是单纯换一个分割网络，而是建立生成、训练、验证的闭环。</a:t>
            </a:r>
          </a:p>
          <a:p xmlns:a="http://schemas.openxmlformats.org/drawingml/2006/main">
            <a:r>
              <a:t>强调这份 PPT 不是论文答辩，而是先把技术路线讲清楚。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这一页先让导师接受：直接训 38 类很难，不是因为代码不努力，而是任务本身难。</a:t>
            </a:r>
          </a:p>
          <a:p xmlns:a="http://schemas.openxmlformats.org/drawingml/2006/main">
            <a:r>
              <a:t>用这页引出为什么我们要先做生成数据和二分类稳定化。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这一页是整套汇报的中心：左右两块不是先后附属关系，而是同等重要。</a:t>
            </a:r>
          </a:p>
          <a:p xmlns:a="http://schemas.openxmlformats.org/drawingml/2006/main">
            <a:r>
              <a:t>导师如果问创新在哪里，可以说在于把可控生成和训练闭环放在一起设计。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这里要讲清楚：点云生成模块是项目的重要部分，不是临时造数据。</a:t>
            </a:r>
          </a:p>
          <a:p xmlns:a="http://schemas.openxmlformats.org/drawingml/2006/main">
            <a:r>
              <a:t>如果导师追问，可以展开 ISO 8608、病害原语、LiDAR 重采样三层。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这页要强调为什么不是直接硬训 38 类。</a:t>
            </a:r>
          </a:p>
          <a:p xmlns:a="http://schemas.openxmlformats.org/drawingml/2006/main">
            <a:r>
              <a:t>二分类阶段先把前景边界学稳，再迁移到更细粒度类别，这比冷启动更合理。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这页回应代码里 GAN 和 end2end 的存在：它们不是乱放的，而是域适配支线。</a:t>
            </a:r>
          </a:p>
          <a:p xmlns:a="http://schemas.openxmlformats.org/drawingml/2006/main">
            <a:r>
              <a:t>同时要诚实说明当前主结论仍来自 baseline，不要把支线说成已成熟成果。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这页要主动讲限制，避免导师追问时显得被动。</a:t>
            </a:r>
          </a:p>
          <a:p xmlns:a="http://schemas.openxmlformats.org/drawingml/2006/main">
            <a:r>
              <a:t>重点不是夸分数，而是说分数说明路线有效，正式结论要等扩容后复验。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收尾要落在计划上：先扩容和统一评估，再做多类别迁移，最后接真实域适配。</a:t>
            </a:r>
          </a:p>
          <a:p xmlns:a="http://schemas.openxmlformats.org/drawingml/2006/main">
            <a:r>
              <a:t>这页可以作为导师讨论的起点，问对方是否认可这个推进顺序。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03883b5c240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ce01897284190" /><Relationship Type="http://schemas.openxmlformats.org/officeDocument/2006/relationships/slideLayout" Target="/ppt/slideLayouts/slideLayout1.xml" Id="Reb229203db48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229203db48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05f9ecdd449a2" /><Relationship Type="http://schemas.openxmlformats.org/officeDocument/2006/relationships/notesSlide" Target="/ppt/notesSlides/notesSlide1.xml" Id="Ra5e76bcf15bf43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abf331f4e466a" /><Relationship Type="http://schemas.openxmlformats.org/officeDocument/2006/relationships/notesSlide" Target="/ppt/notesSlides/notesSlide2.xml" Id="Rff64789d199a4a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232ccb0504c64" /><Relationship Type="http://schemas.openxmlformats.org/officeDocument/2006/relationships/notesSlide" Target="/ppt/notesSlides/notesSlide3.xml" Id="R39a08934c15c4c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e3ff716844d18" /><Relationship Type="http://schemas.openxmlformats.org/officeDocument/2006/relationships/notesSlide" Target="/ppt/notesSlides/notesSlide4.xml" Id="R458bcadc4694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1aec2f0d542bd" /><Relationship Type="http://schemas.openxmlformats.org/officeDocument/2006/relationships/notesSlide" Target="/ppt/notesSlides/notesSlide5.xml" Id="Racaa10d6d7f3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06b8f327f44fe" /><Relationship Type="http://schemas.openxmlformats.org/officeDocument/2006/relationships/notesSlide" Target="/ppt/notesSlides/notesSlide6.xml" Id="R3820b75969d642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1ad83e50e4b0f" /><Relationship Type="http://schemas.openxmlformats.org/officeDocument/2006/relationships/notesSlide" Target="/ppt/notesSlides/notesSlide7.xml" Id="R5acdef2593b1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83d8bc3b540c8" /><Relationship Type="http://schemas.openxmlformats.org/officeDocument/2006/relationships/notesSlide" Target="/ppt/notesSlides/notesSlide8.xml" Id="Recbeca23f47f4c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41E5AB7-74FA-4048-8F85-783C3225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5F50E7-9D5A-4277-BCA1-83C952D8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2B2118"/>
                </a:solidFill>
              </a:defRPr>
            </a:pPr>
            <a:r>
              <a:rPr sz="5250" b="1">
                <a:solidFill>
                  <a:srgbClr val="2B2118"/>
                </a:solidFill>
              </a:rPr>
              <a:t>RoadMC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153B53A-6301-477C-B8C4-8923A212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6F6257"/>
                </a:solidFill>
              </a:defRPr>
            </a:pPr>
            <a:r>
              <a:rPr sz="2175" b="0">
                <a:solidFill>
                  <a:srgbClr val="6F6257"/>
                </a:solidFill>
              </a:rPr>
              <a:t>物理仿真点云生成与路面病害分割训练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C3CEF6-527F-441E-835D-691FDC0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00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B8"/>
          </a:solidFill>
          <a:ln xmlns:a="http://schemas.openxmlformats.org/drawingml/2006/main" w="0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E081F46-9A4A-4EBC-8C49-C008AAB7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96442"/>
                </a:solidFill>
              </a:defRPr>
            </a:pPr>
            <a:r>
              <a:rPr sz="1350" b="1">
                <a:solidFill>
                  <a:srgbClr val="C96442"/>
                </a:solidFill>
              </a:rPr>
              <a:t>给导师汇报用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D428DC1-499C-428E-A426-F2D9B838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B2118"/>
                </a:solidFill>
              </a:defRPr>
            </a:pPr>
            <a:r>
              <a:rPr sz="2250" b="0">
                <a:solidFill>
                  <a:srgbClr val="2B2118"/>
                </a:solidFill>
              </a:rPr>
              <a:t>核心不是单个网络，而是一套从可控数据生成到稳定训练的闭环方案。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69119D69-FDA8-4F3E-98C5-79814657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19150"/>
            <a:ext cx="2857500" cy="4095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E4D6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BA8F8E-BB80-49A7-A3A8-ECBF91F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0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汇报主线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5DBDD26-9B00-451B-BD09-1693E45D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811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295C183-6C6E-4582-87CF-8C53B7DA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716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为什么要生成点云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08882C-2E33-492B-A83B-F6FA598F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526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9DEF7F-C609-4D6A-996F-B247104F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点云如何生成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F7196D7-4BCE-449C-B3C6-5A381077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F4A1106-F0AF-4C26-B20D-096BA7EF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模型如何训练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8FF0433-A8B7-4E61-9D33-04ADEBB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956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5D12CCD-5892-426F-9A0C-E74DF52D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861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当前结果与下一步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C2D43BF-E3D2-49DE-ABF5-043563F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2026-07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DD889F-94D3-4F96-94D6-D809D50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0981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A84E39B-83F0-4410-9AA0-48DA1C9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D16702E-D4A4-4E93-A2F1-B2AE13F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问题背景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055C86C-9EB4-43FB-BD55-092DC5F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B2118"/>
                </a:solidFill>
              </a:defRPr>
            </a:pPr>
            <a:r>
              <a:rPr sz="3000" b="1">
                <a:solidFill>
                  <a:srgbClr val="2B2118"/>
                </a:solidFill>
              </a:rPr>
              <a:t>直接训练路面病害点云模型，很容易卡在数据和长尾上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FDA9D3-394C-4A47-8F5E-8B6E8E6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F6257"/>
                </a:solidFill>
              </a:defRPr>
            </a:pPr>
            <a:r>
              <a:rPr sz="1650" b="0">
                <a:solidFill>
                  <a:srgbClr val="6F6257"/>
                </a:solidFill>
              </a:rPr>
              <a:t>真实点云不是不能用，而是很难在早期形成稳定的大规模监督</a:t>
            </a:r>
            <a:r>
              <a:rPr sz="1650" b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97B0A42-7667-4605-820A-591D4689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762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432B73-08E3-42AB-8714-614FBC8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标注贵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7DFF798-E45A-4E0B-8F07-83E0E715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点级标签需要逐点确认，真实病害边界尤其难标。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9ABB1A33-147C-41FA-865C-92E1E2F2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4762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FDE9370-30FC-402F-A18A-2020C4A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D4C780F-EA7E-4D59-B5F7-945D6FF2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类别长尾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C28455E-EF6B-4494-9B01-ED62DFF4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38 类病害分布极不均衡，冷启动容易塌到背景。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7A2E7F60-45B8-4B0F-99C5-008F9A3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AF64299-B8A3-418A-A15C-66ECC7DC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DED0A29-B5C5-4DD1-9D38-E469D35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目标细薄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84B4810-829E-47C3-909F-49D72C3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裂缝、剥落等目标占比低，边界模糊且稀疏。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1B1F936-4285-4FB2-85A8-A79F72A2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4762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32B09BD-C4F5-4AC0-96CE-B5A0BE00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采集差异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90E5EA5-7420-43E3-B859-177EB28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点密度、噪声、扫描角度会改变输入分布。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B1D6270-B9C4-471C-9B99-32B149A5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6442"/>
                </a:solidFill>
              </a:defRPr>
            </a:pPr>
            <a:r>
              <a:rPr sz="1200" b="1">
                <a:solidFill>
                  <a:srgbClr val="C96442"/>
                </a:solidFill>
              </a:rPr>
              <a:t>判断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1577ADA-C0DC-4FD3-A813-DCBA8F0C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959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B2118"/>
                </a:solidFill>
              </a:defRPr>
            </a:pPr>
            <a:r>
              <a:rPr sz="1650" b="0">
                <a:solidFill>
                  <a:srgbClr val="2B2118"/>
                </a:solidFill>
              </a:rPr>
              <a:t>当前问题不只是模型结构，而是数据、训练路线和评估口径一起影响结果。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FAD492C-C44C-49C1-A6C2-2B413C2B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2209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5076404-F855-4DA7-BA96-0FAC8E52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862B87-6611-4EFD-B43E-4DA5B052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总体方案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CCA10B-0290-40B2-B134-BBE7DDC7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先把监督数据做可控，再把模型训练做稳定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1921CB11-3AE5-4069-BA4B-B8EB1D2C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95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FE4D6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8F3504-CD87-4FF4-B53B-1BF38C4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E07000C-F817-4279-A550-4395D02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2118"/>
                </a:solidFill>
              </a:defRPr>
            </a:pPr>
            <a:r>
              <a:rPr sz="2100" b="1">
                <a:solidFill>
                  <a:srgbClr val="2B2118"/>
                </a:solidFill>
              </a:rPr>
              <a:t>点云生成模块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245BFB0-47E6-4907-8B4F-875944F9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6257"/>
                </a:solidFill>
              </a:defRPr>
            </a:pPr>
            <a:r>
              <a:rPr sz="1575" b="0">
                <a:solidFill>
                  <a:srgbClr val="6F6257"/>
                </a:solidFill>
              </a:rPr>
              <a:t>用路面粗糙度、微纹理、病害原语和</a:t>
            </a:r>
            <a:r>
              <a:rPr sz="1575" b="0">
                <a:solidFill>
                  <a:srgbClr val="6F6257"/>
                </a:solidFill>
              </a:rPr>
              <a:t> LiDAR </a:t>
            </a:r>
            <a:r>
              <a:rPr sz="1575" b="0">
                <a:solidFill>
                  <a:srgbClr val="6F6257"/>
                </a:solidFill>
              </a:rPr>
              <a:t>观测模型，生成带标签点云</a:t>
            </a:r>
            <a:r>
              <a:rPr sz="1575" b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6ADFEAD4-BF96-47C7-A19B-B8E22DB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43125"/>
            <a:ext cx="4095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FE4D6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7D4D20-D655-4CD8-976E-9A99A9C7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43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784572A-9B63-482B-B21C-8CC8F830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2118"/>
                </a:solidFill>
              </a:defRPr>
            </a:pPr>
            <a:r>
              <a:rPr sz="2100" b="1">
                <a:solidFill>
                  <a:srgbClr val="2B2118"/>
                </a:solidFill>
              </a:rPr>
              <a:t>模型训练模块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B430A21-27D5-4D13-A6A7-2E88A8D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6257"/>
                </a:solidFill>
              </a:defRPr>
            </a:pPr>
            <a:r>
              <a:rPr sz="1575" b="0">
                <a:solidFill>
                  <a:srgbClr val="6F6257"/>
                </a:solidFill>
              </a:rPr>
              <a:t>用 Swin3D / </a:t>
            </a:r>
            <a:r>
              <a:rPr sz="1575" b="0">
                <a:solidFill>
                  <a:srgbClr val="6F6257"/>
                </a:solidFill>
              </a:rPr>
              <a:t>PointMamba</a:t>
            </a:r>
            <a:r>
              <a:rPr sz="1575" b="0">
                <a:solidFill>
                  <a:srgbClr val="6F6257"/>
                </a:solidFill>
              </a:rPr>
              <a:t> + </a:t>
            </a:r>
            <a:r>
              <a:rPr sz="1575" b="0">
                <a:solidFill>
                  <a:srgbClr val="6F6257"/>
                </a:solidFill>
              </a:rPr>
              <a:t>mHC</a:t>
            </a:r>
            <a:r>
              <a:rPr sz="1575" b="0">
                <a:solidFill>
                  <a:srgbClr val="6F6257"/>
                </a:solidFill>
              </a:rPr>
              <a:t> </a:t>
            </a:r>
            <a:r>
              <a:rPr sz="1575" b="0">
                <a:solidFill>
                  <a:srgbClr val="6F6257"/>
                </a:solidFill>
              </a:rPr>
              <a:t>训练分割模型，先二分类稳定，再迁移到多类别</a:t>
            </a:r>
            <a:r>
              <a:rPr sz="1575" b="0">
                <a:solidFill>
                  <a:srgbClr val="6F6257"/>
                </a:solidFill>
              </a:rPr>
              <a:t>。</a:t>
            </a:r>
          </a:p>
        </p:txBody>
      </p:sp>
      <p:cxnSp>
        <p:nvCxnSpPr>
          <p:cNvPr id="66" name="直接箭头连接符 29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81550" y="3143250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AE17E03-C28A-422F-9004-9DB0435E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860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96442"/>
                </a:solidFill>
              </a:defRPr>
            </a:pPr>
            <a:r>
              <a:rPr sz="1875" b="1">
                <a:solidFill>
                  <a:srgbClr val="C96442"/>
                </a:solidFill>
              </a:rPr>
              <a:t>闭环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F46D435-08C7-4905-A499-C34620E0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生成</a:t>
            </a:r>
            <a:r>
              <a:rPr sz="1350" b="0">
                <a:solidFill>
                  <a:srgbClr val="6F6257"/>
                </a:solidFill>
              </a:rPr>
              <a:t> -&gt; </a:t>
            </a:r>
            <a:r>
              <a:rPr sz="1350" b="0">
                <a:solidFill>
                  <a:srgbClr val="6F6257"/>
                </a:solidFill>
              </a:rPr>
              <a:t>训练</a:t>
            </a:r>
            <a:r>
              <a:rPr sz="1350" b="0">
                <a:solidFill>
                  <a:srgbClr val="6F6257"/>
                </a:solidFill>
              </a:rPr>
              <a:t> -&gt; </a:t>
            </a:r>
            <a:r>
              <a:rPr sz="1350" b="0">
                <a:solidFill>
                  <a:srgbClr val="6F6257"/>
                </a:solidFill>
              </a:rPr>
              <a:t>评估</a:t>
            </a:r>
            <a:r>
              <a:rPr sz="1350" b="0">
                <a:solidFill>
                  <a:srgbClr val="6F6257"/>
                </a:solidFill>
              </a:rPr>
              <a:t> -&gt; </a:t>
            </a:r>
            <a:r>
              <a:rPr sz="1350" b="0">
                <a:solidFill>
                  <a:srgbClr val="6F6257"/>
                </a:solidFill>
              </a:rPr>
              <a:t>校准</a:t>
            </a:r>
            <a:r>
              <a:rPr sz="1350" b="0">
                <a:solidFill>
                  <a:srgbClr val="6F6257"/>
                </a:solidFill>
              </a:rPr>
              <a:t> -&gt; </a:t>
            </a:r>
            <a:r>
              <a:rPr sz="1350" b="0">
                <a:solidFill>
                  <a:srgbClr val="6F6257"/>
                </a:solidFill>
              </a:rPr>
              <a:t>再生成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68EA6B3B-ED9F-4B9E-9107-180B3DA2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990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F626EF6-E367-4D51-998A-03A9C40E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29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关键区别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2AE08BF-425D-42FA-91DD-BF873C9E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911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B2118"/>
                </a:solidFill>
              </a:defRPr>
            </a:pPr>
            <a:r>
              <a:rPr sz="1725" b="0">
                <a:solidFill>
                  <a:srgbClr val="2B2118"/>
                </a:solidFill>
              </a:rPr>
              <a:t>点云生成不是前处理脚本，它决定几何形态、类别覆盖和监督上限。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9C86635-0D77-4320-85C1-A24BE07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184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734A432-B1C3-4872-8AFC-2E1D820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CB1902-1AD2-4B10-A1F4-04A7ECF7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点云生成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3EA4A-3DA9-4794-A367-2ED4BAA0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合成点云来自一条物理和几何流水线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17F4E7-B06B-405F-BAD1-5BA2A04E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F6257"/>
                </a:solidFill>
              </a:defRPr>
            </a:pPr>
            <a:r>
              <a:rPr sz="1650" b="0">
                <a:solidFill>
                  <a:srgbClr val="6F6257"/>
                </a:solidFill>
              </a:rPr>
              <a:t>不是随机造点，而是按“路面形貌 + 病害形变 + LiDAR 观测”生成监督样本。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8299355-3E52-44AC-A5A8-1323A095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524000" cy="1600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5DF89FB-B1FB-4321-B5FF-B6EDC9E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6740F9-0C45-4DB4-90CE-6DB5D5B7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路面类型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06C7E04-CE6B-483E-9602-7662D0A3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沥青 / 水泥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0236F901-44CB-4D14-9AE7-10D2204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66950"/>
            <a:ext cx="1524000" cy="1600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6AF0E27-0D6E-49FD-9DA9-91E315F5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AE07A0E-5629-491C-B8FC-7BBA09B9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05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ISO 8608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F3024-D378-4A9F-B1AF-36BD403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6705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宏观粗糙度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E7184E6D-AD44-419D-8306-FDCDA92D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1524000" cy="1600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559E7E3-CE8F-445D-ACA0-2C23896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6AE4CFB-C400-4F27-B1A6-57C6CAEE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微纹理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0CC0C44-CB5F-46CF-995F-5887C5D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fBm 细节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5BA2FF3A-947F-4BB8-A4D3-886A528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1524000" cy="1600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7804AB6-0A7E-4CDB-ADF4-6E76551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BB0878-D1B0-4D1A-9F56-15070A69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病害原语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0FB90B0-CC65-4E3A-AEF8-EAEAC293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裂缝、坑槽等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464E3E84-35F1-49C0-A82E-D58BBF87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1524000" cy="1600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A763416-8E87-455D-9269-E09D690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05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810284D-88E8-451E-8756-882DD836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LiDAR 观测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5792904-C5F8-4B98-BAFC-D778283E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扫描线与噪声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EFEFE3E4-6A23-41D3-A603-77DC740B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524000" cy="1600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91C676D-FD06-4762-B959-D227516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06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E374699-57E3-40F9-883B-B7103A72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05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.npz 输出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F8E3A71-C10F-4EF6-A993-2B0153D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6705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点、标签、特征</a:t>
            </a:r>
          </a:p>
        </p:txBody>
      </p:sp>
      <p:cxnSp>
        <p:nvCxnSpPr>
          <p:cNvPr id="168" name="直接箭头连接符 68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207645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169" name="直接箭头连接符 69"/>
          <p:cNvCxnSpPr>
            <a:stCxn xmlns:a="http://schemas.openxmlformats.org/drawingml/2006/main" id="13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96240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170" name="直接箭头连接符 70"/>
          <p:cNvCxnSpPr>
            <a:stCxn xmlns:a="http://schemas.openxmlformats.org/drawingml/2006/main" id="17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84835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171" name="直接箭头连接符 71"/>
          <p:cNvCxnSpPr>
            <a:stCxn xmlns:a="http://schemas.openxmlformats.org/drawingml/2006/main" id="21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773430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172" name="直接箭头连接符 72"/>
          <p:cNvCxnSpPr>
            <a:stCxn xmlns:a="http://schemas.openxmlformats.org/drawingml/2006/main" id="25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962025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sp>
        <p:nvSpPr>
          <p:cNvPr id="34" name="矩形: 圆角 33">
            <a:extLst xmlns:a="http://schemas.openxmlformats.org/drawingml/2006/main">
              <a:ext uri="{FF2B5EF4-FFF2-40B4-BE49-F238E27FC236}">
                <a16:creationId xmlns:a16="http://schemas.microsoft.com/office/drawing/2014/main" id="{DD87A09B-F747-4C14-9BAD-AB6270F8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4953000" cy="9906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CC6CEC5-C83F-4371-A873-5156C4AA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6442"/>
                </a:solidFill>
              </a:defRPr>
            </a:pPr>
            <a:r>
              <a:rPr sz="1500" b="1">
                <a:solidFill>
                  <a:srgbClr val="C96442"/>
                </a:solidFill>
              </a:rPr>
              <a:t>讲解重点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B12D8F4-E266-41D1-9F58-BC159AC7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2118"/>
                </a:solidFill>
              </a:defRPr>
            </a:pPr>
            <a:r>
              <a:rPr sz="1500" b="0">
                <a:solidFill>
                  <a:srgbClr val="2B2118"/>
                </a:solidFill>
              </a:rPr>
              <a:t>病害先在几何层面形成，再映射成点级标签；这比直接贴标签更自然</a:t>
            </a:r>
            <a:r>
              <a:rPr sz="1500" b="0">
                <a:solidFill>
                  <a:srgbClr val="2B2118"/>
                </a:solidFill>
              </a:rPr>
              <a:t>。</a:t>
            </a:r>
          </a:p>
        </p:txBody>
      </p:sp>
      <p:sp>
        <p:nvSpPr>
          <p:cNvPr id="37" name="矩形: 圆角 36">
            <a:extLst xmlns:a="http://schemas.openxmlformats.org/drawingml/2006/main">
              <a:ext uri="{FF2B5EF4-FFF2-40B4-BE49-F238E27FC236}">
                <a16:creationId xmlns:a16="http://schemas.microsoft.com/office/drawing/2014/main" id="{6D964162-B4D6-46E3-B02A-226787F4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953000" cy="9906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42D2EA8-7C63-4012-83D7-37285A7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38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6442"/>
                </a:solidFill>
              </a:defRPr>
            </a:pPr>
            <a:r>
              <a:rPr sz="1500" b="1">
                <a:solidFill>
                  <a:srgbClr val="C96442"/>
                </a:solidFill>
              </a:rPr>
              <a:t>代码落点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756382B-FC1E-4AE9-93F9-68B3FC41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720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2118"/>
                </a:solidFill>
              </a:defRPr>
            </a:pPr>
            <a:r>
              <a:rPr sz="1500" b="0">
                <a:solidFill>
                  <a:srgbClr val="2B2118"/>
                </a:solidFill>
              </a:rPr>
              <a:t>generator.py 负责调度；primitives.py </a:t>
            </a:r>
            <a:r>
              <a:rPr sz="1500" b="0">
                <a:solidFill>
                  <a:srgbClr val="2B2118"/>
                </a:solidFill>
              </a:rPr>
              <a:t>提供</a:t>
            </a:r>
            <a:r>
              <a:rPr sz="1500" b="0">
                <a:solidFill>
                  <a:srgbClr val="2B2118"/>
                </a:solidFill>
              </a:rPr>
              <a:t> 11 </a:t>
            </a:r>
            <a:r>
              <a:rPr sz="1500" b="0">
                <a:solidFill>
                  <a:srgbClr val="2B2118"/>
                </a:solidFill>
              </a:rPr>
              <a:t>类物理</a:t>
            </a:r>
            <a:r>
              <a:rPr sz="1500" b="0">
                <a:solidFill>
                  <a:srgbClr val="2B2118"/>
                </a:solidFill>
              </a:rPr>
              <a:t>/</a:t>
            </a:r>
            <a:r>
              <a:rPr sz="1500" b="0">
                <a:solidFill>
                  <a:srgbClr val="2B2118"/>
                </a:solidFill>
              </a:rPr>
              <a:t>几何基元</a:t>
            </a:r>
            <a:r>
              <a:rPr sz="1500" b="0">
                <a:solidFill>
                  <a:srgbClr val="2B2118"/>
                </a:solidFill>
              </a:rPr>
              <a:t>。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8881C3E-9B64-4E3C-BDAD-C234CB1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753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3AF5D98-D921-4E6A-AE22-B96A2019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C32CBA0-4F42-479C-BB02-AD3465E2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模型训练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666E926-1B33-47CC-A597-16410A12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B2118"/>
                </a:solidFill>
              </a:defRPr>
            </a:pPr>
            <a:r>
              <a:rPr sz="2850" b="1">
                <a:solidFill>
                  <a:srgbClr val="2B2118"/>
                </a:solidFill>
              </a:rPr>
              <a:t>训练路线先解决“</a:t>
            </a:r>
            <a:r>
              <a:rPr sz="2850" b="1">
                <a:solidFill>
                  <a:srgbClr val="2B2118"/>
                </a:solidFill>
              </a:rPr>
              <a:t>会不会学到病害</a:t>
            </a:r>
            <a:r>
              <a:rPr sz="2850" b="1">
                <a:solidFill>
                  <a:srgbClr val="2B2118"/>
                </a:solidFill>
              </a:rPr>
              <a:t>”，</a:t>
            </a:r>
            <a:r>
              <a:rPr sz="2850" b="1">
                <a:solidFill>
                  <a:srgbClr val="2B2118"/>
                </a:solidFill>
              </a:rPr>
              <a:t>再解决“分成哪一类</a:t>
            </a:r>
            <a:r>
              <a:rPr sz="2850" b="1">
                <a:solidFill>
                  <a:srgbClr val="2B2118"/>
                </a:solidFill>
              </a:rPr>
              <a:t>”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5377A19C-2D42-41CB-B575-931FD631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095500" cy="14287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FA66D58-3EA0-453B-A81B-49E1D78B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607E74-E4DA-403D-A0F9-B114772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二分类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3587BF5-BC23-438B-9883-37AA94D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背景 / 病害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3AAD7770-A2BD-4C54-9CFE-51D926BD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095500" cy="14287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0B95109-2CB2-4B02-909E-4EAB14C3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7FAB79-F48B-4EA8-9700-821341D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阈值校准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DDC9E2-C129-46A2-AA98-4467F79C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约 0.44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ACB0971-C76B-410D-9CCA-1EEC9401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2095500" cy="14287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11B883C-A496-48AE-B014-BE43351E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EAADCD9-F7EA-4B8C-A2E9-6FF2E081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迁移骨干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5BCCCB1-375B-450F-BADE-D5FAD1A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复用 backbone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68B69BB0-BC6B-4E22-BA1D-6161605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095500" cy="14287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E8E83DE-D6A3-483E-9E17-83BD3A9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F33750E-8406-404C-A5C5-250F3E78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38 类细分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F3820E7-5BDA-49D7-A944-D90FBED1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956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分阶段推进</a:t>
            </a:r>
          </a:p>
        </p:txBody>
      </p:sp>
      <p:cxnSp>
        <p:nvCxnSpPr>
          <p:cNvPr id="117" name="直接箭头连接符 50"/>
          <p:cNvCxnSpPr>
            <a:stCxn xmlns:a="http://schemas.openxmlformats.org/drawingml/2006/main" id="8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895600" y="2771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118" name="直接箭头连接符 51"/>
          <p:cNvCxnSpPr>
            <a:stCxn xmlns:a="http://schemas.openxmlformats.org/drawingml/2006/main" id="12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5486400" y="2771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119" name="直接箭头连接符 52"/>
          <p:cNvCxnSpPr>
            <a:stCxn xmlns:a="http://schemas.openxmlformats.org/drawingml/2006/main" id="16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077200" y="2771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headEnd type="arrow" w="sm" len="sm"/>
          </a:ln>
        </p:spPr>
      </p:cxn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51DFC3B9-78D9-424B-AB8B-F5B51983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5067300" cy="13144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300C265-05BA-4A37-B762-EC87774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9E652BF-F0C1-4CEC-9985-D55CD3EE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结构选择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211513E-33AB-4187-9F06-0D6C133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257"/>
                </a:solidFill>
              </a:defRPr>
            </a:pPr>
            <a:r>
              <a:rPr sz="1425" b="0">
                <a:solidFill>
                  <a:srgbClr val="6F6257"/>
                </a:solidFill>
              </a:rPr>
              <a:t>Swin3D </a:t>
            </a:r>
            <a:r>
              <a:rPr sz="1425" b="0">
                <a:solidFill>
                  <a:srgbClr val="6F6257"/>
                </a:solidFill>
              </a:rPr>
              <a:t>是当前更稳的精度基线；PointMamba-inspired</a:t>
            </a:r>
            <a:r>
              <a:rPr sz="1425" b="0">
                <a:solidFill>
                  <a:srgbClr val="6F6257"/>
                </a:solidFill>
              </a:rPr>
              <a:t> </a:t>
            </a:r>
            <a:r>
              <a:rPr sz="1425" b="0">
                <a:solidFill>
                  <a:srgbClr val="6F6257"/>
                </a:solidFill>
              </a:rPr>
              <a:t>更轻量，适合继续做速度和结构探索</a:t>
            </a:r>
            <a:r>
              <a:rPr sz="1425" b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A957681D-D29F-481A-9C65-56F7CA6A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5067300" cy="13144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F36CDF-4723-4A0D-A6E6-C5F0D85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7A969CA-2F09-4B29-922F-1AA4FF3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训练配方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A9D8D11-C175-4A51-9935-0EF7DB75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257"/>
                </a:solidFill>
              </a:defRPr>
            </a:pPr>
            <a:r>
              <a:rPr sz="1425" b="0">
                <a:solidFill>
                  <a:srgbClr val="6F6257"/>
                </a:solidFill>
              </a:rPr>
              <a:t>mHC</a:t>
            </a:r>
            <a:r>
              <a:rPr sz="1425" b="0">
                <a:solidFill>
                  <a:srgbClr val="6F6257"/>
                </a:solidFill>
              </a:rPr>
              <a:t> </a:t>
            </a:r>
            <a:r>
              <a:rPr sz="1425" b="0">
                <a:solidFill>
                  <a:srgbClr val="6F6257"/>
                </a:solidFill>
              </a:rPr>
              <a:t>做通道混合；Focal</a:t>
            </a:r>
            <a:r>
              <a:rPr sz="1425" b="0">
                <a:solidFill>
                  <a:srgbClr val="6F6257"/>
                </a:solidFill>
              </a:rPr>
              <a:t> + Dice + Edge </a:t>
            </a:r>
            <a:r>
              <a:rPr sz="1425" b="0">
                <a:solidFill>
                  <a:srgbClr val="6F6257"/>
                </a:solidFill>
              </a:rPr>
              <a:t>对应长尾、小目标和边界；Muon</a:t>
            </a:r>
            <a:r>
              <a:rPr sz="1425" b="0">
                <a:solidFill>
                  <a:srgbClr val="6F6257"/>
                </a:solidFill>
              </a:rPr>
              <a:t> + </a:t>
            </a:r>
            <a:r>
              <a:rPr sz="1425" b="0">
                <a:solidFill>
                  <a:srgbClr val="6F6257"/>
                </a:solidFill>
              </a:rPr>
              <a:t>AdamW</a:t>
            </a:r>
            <a:r>
              <a:rPr sz="1425" b="0">
                <a:solidFill>
                  <a:srgbClr val="6F6257"/>
                </a:solidFill>
              </a:rPr>
              <a:t> </a:t>
            </a:r>
            <a:r>
              <a:rPr sz="1425" b="0">
                <a:solidFill>
                  <a:srgbClr val="6F6257"/>
                </a:solidFill>
              </a:rPr>
              <a:t>提供混合优化</a:t>
            </a:r>
            <a:r>
              <a:rPr sz="1425" b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D1E47E8-1915-4721-8841-27EFA65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2290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B0E860B-716B-460A-827D-1CD64E61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68FD79F-0183-469B-95E4-DEBCF0A8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扩展支线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25F41C3-9268-4C18-884C-1D1CF192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GAN 和 end2end 是通向真实域适配的支线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C234558-B267-4C7F-B47C-1D8D843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F6257"/>
                </a:solidFill>
              </a:defRPr>
            </a:pPr>
            <a:r>
              <a:rPr sz="1650" b="0">
                <a:solidFill>
                  <a:srgbClr val="6F6257"/>
                </a:solidFill>
              </a:rPr>
              <a:t>它们不是当前最稳结果来源，但解释了项目后续如何从合成走向真实。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D5532A5-DCBB-4B8F-A6B2-DAFE1777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905000" cy="1295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50D98B-5466-476F-835F-8092F6C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406B981-39DF-463B-A4AC-1A904D1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合成点云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06BF025-A2B4-467A-935F-8FA8B9A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points + normals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D98591BB-84CB-4EF2-8483-52E0012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2286000" cy="1295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5B67B2-CC9C-4D7E-8F09-93480B69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120E35-A21C-4771-BF5E-413C2C94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StyleTransferGen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04F4B38-D228-401A-9053-2CB1EED4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预测坐标和法向残差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2479D4C4-A8B7-40EE-B1EA-2EFC0E1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2286000" cy="1295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3A85C1C-F0D5-454A-97B5-E18EB03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5CA2B2A-4549-4E75-AD36-6DC4CBB6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WGAN 判别器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B213A3F-E0EF-4EFB-A7F6-EB521B9A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判断风格是否更真实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3BC06E4-368D-4AF1-818D-6852F7B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C611BC8-4F09-4F54-BF74-54F0BE7A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400F3C-58F4-4A51-A1B4-B237A937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分割模型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88DCACA-AC24-4DE3-92A3-4786F0DE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720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在风格化点云上训练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F4D554E-B14A-4F6A-984E-A82310D6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8343900" cy="5524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FE4D6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9B6E721-56F8-4D6B-9397-26345625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197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96442"/>
                </a:solidFill>
              </a:defRPr>
            </a:pPr>
            <a:r>
              <a:rPr sz="1725" b="1">
                <a:solidFill>
                  <a:srgbClr val="C96442"/>
                </a:solidFill>
              </a:rPr>
              <a:t>定位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974E8B8-40E5-4855-A988-46EBAFA0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10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2118"/>
                </a:solidFill>
              </a:defRPr>
            </a:pPr>
            <a:r>
              <a:rPr sz="1350" b="0">
                <a:solidFill>
                  <a:srgbClr val="2B2118"/>
                </a:solidFill>
              </a:rPr>
              <a:t>当前主结果仍来自 baseline；GAN / end2end 后续承担域适配验证。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0F80E1F-74D3-431D-8B8C-CF1CFF80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06</a:t>
            </a:r>
          </a:p>
        </p:txBody>
      </p:sp>
      <p:cxnSp>
        <p:nvCxnSpPr>
          <p:cNvPr id="5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19400" y="29146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38850" y="29146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A27E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9" idx="2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95850" y="3562350"/>
            <a:ext cx="2076450" cy="1171575"/>
          </a:xfrm>
          <a:prstGeom xmlns:a="http://schemas.openxmlformats.org/drawingml/2006/main" prst="bentConnector5">
            <a:avLst>
              <a:gd name="adj1" fmla="val 0"/>
              <a:gd name="adj2" fmla="val 19512"/>
              <a:gd name="adj3" fmla="val 88991"/>
            </a:avLst>
          </a:prstGeom>
          <a:ln xmlns:a="http://schemas.openxmlformats.org/drawingml/2006/main" w="19050">
            <a:solidFill>
              <a:srgbClr val="E4A27E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22342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7CAE2F2-343E-43B6-B714-F227B797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803C5EB-64B8-438D-ADA9-4CB1BBC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阶段结果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832C34D-4156-4F3A-A152-9F7F481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当前结果说明路线可行，但还不是最终泛化结论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6CAE0DEC-A082-4C50-BC7C-0EABEA30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209800" cy="14097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2103FB3-49FA-4CAA-9F2E-0C8081C9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0.7319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87E8B9A-9F46-4C90-B308-784CA9F3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Swin3D + mHC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校准后全局点级 mIoU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E87C0949-4801-48EA-94D3-B67E25D6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1962150" cy="14097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9205381-94CC-4492-99EA-8973DE68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62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0.7052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00ADC8F-6435-4F04-9212-33DD20D0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disease IoU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11ECA9F4-B8A3-42C5-838F-AE54A692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62150" cy="14097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7596AD-4D1D-48D6-AF4D-2BFCDB43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0.9039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2261629-A106-46EF-AE6A-4C8B0F9B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precision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9572BCF6-7A07-4870-869C-65F847D7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962150" cy="14097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1C53A06-82E3-4486-8D8B-B61EB8F0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62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0.7624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3F2638-811F-4AEC-A4F6-7BFA365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527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recall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4A668F8B-4B9E-436B-B262-8AA662E5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1905000" cy="14097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EB9587-83E0-4E98-B950-D47FFA96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6215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2118"/>
                </a:solidFill>
              </a:defRPr>
            </a:pPr>
            <a:r>
              <a:rPr sz="2850" b="1">
                <a:solidFill>
                  <a:srgbClr val="2B2118"/>
                </a:solidFill>
              </a:rPr>
              <a:t>0.5671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403B818-BE87-4476-8330-33BFEF0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PointMamba + mHC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二分类短跑 mIoU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83FD4FE1-F8DB-4E42-B627-9C2C06E6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5086350" cy="1428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E4D6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F19AC32-4BAB-4236-B8A1-1EADDDC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1540225-0F73-4DA7-AF92-A617C8E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必须主动说明的限制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CDDFA26-30AC-4306-A188-5A0048C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257"/>
                </a:solidFill>
              </a:defRPr>
            </a:pPr>
            <a:r>
              <a:rPr sz="1425" b="0">
                <a:solidFill>
                  <a:srgbClr val="6F6257"/>
                </a:solidFill>
              </a:rPr>
              <a:t>当前结果主要来自生成的小型验证集；大量快速诊断只用少量验证 batch，容易在极少 batch 上出现过拟合。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D6F8C2DB-ACB1-4F1D-ABEE-F306767E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5086350" cy="1428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E4D6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0FA124C-020D-4968-8E0B-74D9CFBC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CADB065-C81D-4CC9-8037-8FCDDB0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对导师的稳妥表述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45A9A15-9B2B-4490-A819-A048D5A5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257"/>
                </a:solidFill>
              </a:defRPr>
            </a:pPr>
            <a:r>
              <a:rPr sz="1425" b="0">
                <a:solidFill>
                  <a:srgbClr val="6F6257"/>
                </a:solidFill>
              </a:rPr>
              <a:t>这些分数证明技术路线成立，但下一步需要在扩容数据集上重新验证稳定性和泛化。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8714804-EDB2-484B-9836-D5260C94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0328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6EC3CF1-EB12-4075-93DC-D68A9D7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F7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49C2D7-0486-43B4-8CF0-CD6417C7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下一步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016E0E9-7890-4459-83CA-A87C3BF3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下一阶段先扩大验证，再推进 38 类和真实域适配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CE3398C8-01B5-4F05-9245-90F44735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D31900-9798-40EF-8FB6-B1466EB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128966D-CD4D-4975-894A-F242D08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扩容数据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C26C56F-6F70-43F2-9247-922BE8AA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504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目标约 5000 个合成场景，补齐可恢复生成。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81055480-42F6-4A02-9A31-98FFFD6C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94BAB93-E9DE-4017-B887-AE8489DB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47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1F3083B-7E66-42B4-932E-FF7B2A37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336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统一评估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C408332-8CD4-4045-8D44-77828A0B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1504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同时输出 global mIoU 与 batch mean mIoU。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2E23ADD7-C4A9-4709-B9C0-CBF99288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D0B1C3E-DF30-4F26-8083-46B7A370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47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77301EC-A82E-4535-B89E-57B270B2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336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重验二分类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69B9EFF-6B68-4C96-BA6F-8206B77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95600"/>
            <a:ext cx="1504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复验 Swin3D 与 PointMamba 的稳定性。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49FC7E32-95C9-4C73-BE34-89AA4F46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EADF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B30430-3F6C-4A12-8AE3-76A4DAF8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9F81D9B-14A9-412B-A61F-23DBF2CA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分阶段多类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5191E22-7792-49A5-8CB5-C70CB4E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95600"/>
            <a:ext cx="1504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二分类 -&gt; 4/8 类 -&gt; 高频子类 -&gt; 38 类。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A54CA819-8412-4576-8237-6659589D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BC3266D-8034-42DD-A82A-3AE0E302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05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617FBB6-0DF7-4DB9-9A7C-2FC8D28C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336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接回 GAN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1F144F-AF4C-4581-A7BB-51643FA6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1504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在 baseline 稳定后做合成到真实风格适配。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89DB4055-287D-44EC-A8B0-BA045A20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801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8C7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3C8BD93-BF49-4F8A-AD28-6ABAA22D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006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6442"/>
                </a:solidFill>
              </a:defRPr>
            </a:pPr>
            <a:r>
              <a:rPr sz="1500" b="1">
                <a:solidFill>
                  <a:srgbClr val="C96442"/>
                </a:solidFill>
              </a:rPr>
              <a:t>结论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7506699-D13D-443B-AA3F-3514C00D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625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B2118"/>
                </a:solidFill>
              </a:defRPr>
            </a:pPr>
            <a:r>
              <a:rPr sz="1650" b="0">
                <a:solidFill>
                  <a:srgbClr val="2B2118"/>
                </a:solidFill>
              </a:rPr>
              <a:t>这不是推翻重来，而是沿着已经验证的主线，把数据规模、评估口径和多类别迁移补稳。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3AD639A-959F-422C-9EB5-873D676E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682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2026-07-04T15:21:52.1210000Z</dcterms:created>
  <dcterms:modified xsi:type="dcterms:W3CDTF">2026-07-04T15:21:52.1210000Z</dcterms:modified>
</coreProperties>
</file>